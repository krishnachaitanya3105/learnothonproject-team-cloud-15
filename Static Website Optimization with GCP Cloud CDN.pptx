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92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1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34C759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381000" y="1077278"/>
            <a:ext cx="1828800" cy="381000"/>
          </a:xfrm>
          <a:custGeom>
            <a:avLst/>
            <a:gdLst/>
            <a:ahLst/>
            <a:cxnLst/>
            <a:rect l="l" t="t" r="r" b="b"/>
            <a:pathLst>
              <a:path w="1828800" h="381000">
                <a:moveTo>
                  <a:pt x="190500" y="0"/>
                </a:moveTo>
                <a:lnTo>
                  <a:pt x="1638300" y="0"/>
                </a:lnTo>
                <a:cubicBezTo>
                  <a:pt x="1743440" y="0"/>
                  <a:pt x="1828800" y="85360"/>
                  <a:pt x="1828800" y="190500"/>
                </a:cubicBezTo>
                <a:lnTo>
                  <a:pt x="1828800" y="190500"/>
                </a:lnTo>
                <a:cubicBezTo>
                  <a:pt x="1828800" y="295640"/>
                  <a:pt x="1743440" y="381000"/>
                  <a:pt x="16383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71500" y="1153478"/>
            <a:ext cx="152721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Skill Project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763078"/>
            <a:ext cx="88773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Website Optimization with </a:t>
            </a:r>
            <a:r>
              <a:rPr lang="en-US" sz="54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GCP Cloud CDN</a:t>
            </a:r>
            <a:r>
              <a:rPr lang="en-US" sz="54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Caching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4563428"/>
            <a:ext cx="65151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Hosted on Cloud Storage + Global HTTPS + Edge Caching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56349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81000" y="5943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191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43000" y="5962650"/>
            <a:ext cx="32684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3901" y="5822156"/>
            <a:ext cx="6122175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/>
              <a:t>Team name:- Cloud15 </a:t>
            </a:r>
          </a:p>
          <a:p>
            <a:pPr>
              <a:lnSpc>
                <a:spcPct val="130000"/>
              </a:lnSpc>
            </a:pPr>
            <a:r>
              <a:rPr lang="en-US" sz="1600" dirty="0"/>
              <a:t>2300031093-Kedarisetti Krishna Chaitanya(Team Lead)</a:t>
            </a:r>
            <a:br>
              <a:rPr lang="en-US" sz="1600" dirty="0"/>
            </a:br>
            <a:r>
              <a:rPr lang="en-US" sz="1600" dirty="0"/>
              <a:t>2300033899-Raja Sai </a:t>
            </a:r>
            <a:r>
              <a:rPr lang="en-US" sz="1600" dirty="0" err="1"/>
              <a:t>Nammalwar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/>
              <a:t>2300031779-Subham Pareek</a:t>
            </a:r>
          </a:p>
          <a:p>
            <a:pPr>
              <a:lnSpc>
                <a:spcPct val="130000"/>
              </a:lnSpc>
            </a:pPr>
            <a:r>
              <a:rPr lang="en-US" sz="1600" dirty="0"/>
              <a:t>2300031717-Lakshmi Sandeep</a:t>
            </a:r>
          </a:p>
          <a:p>
            <a:pPr>
              <a:lnSpc>
                <a:spcPct val="130000"/>
              </a:lnSpc>
            </a:pPr>
            <a:r>
              <a:rPr lang="en-IN" sz="2000" b="1" u="sng" dirty="0"/>
              <a:t> </a:t>
            </a:r>
            <a:br>
              <a:rPr lang="en-IN" b="1" u="sng" dirty="0"/>
            </a:b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73132" y="6096000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February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51610"/>
            <a:ext cx="5551170" cy="5017770"/>
          </a:xfrm>
          <a:custGeom>
            <a:avLst/>
            <a:gdLst/>
            <a:ahLst/>
            <a:cxnLst/>
            <a:rect l="l" t="t" r="r" b="b"/>
            <a:pathLst>
              <a:path w="5551170" h="5017770">
                <a:moveTo>
                  <a:pt x="228610" y="0"/>
                </a:moveTo>
                <a:lnTo>
                  <a:pt x="5322560" y="0"/>
                </a:lnTo>
                <a:cubicBezTo>
                  <a:pt x="5448818" y="0"/>
                  <a:pt x="5551170" y="102352"/>
                  <a:pt x="5551170" y="228610"/>
                </a:cubicBezTo>
                <a:lnTo>
                  <a:pt x="5551170" y="4789160"/>
                </a:lnTo>
                <a:cubicBezTo>
                  <a:pt x="5551170" y="4915418"/>
                  <a:pt x="5448818" y="5017770"/>
                  <a:pt x="5322560" y="5017770"/>
                </a:cubicBezTo>
                <a:lnTo>
                  <a:pt x="228610" y="5017770"/>
                </a:lnTo>
                <a:cubicBezTo>
                  <a:pt x="102352" y="5017770"/>
                  <a:pt x="0" y="4915418"/>
                  <a:pt x="0" y="4789160"/>
                </a:cubicBezTo>
                <a:lnTo>
                  <a:pt x="0" y="228610"/>
                </a:lnTo>
                <a:cubicBezTo>
                  <a:pt x="0" y="102352"/>
                  <a:pt x="102352" y="0"/>
                  <a:pt x="22861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93420" y="17602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F6900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45820" y="19126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9220" y="1874520"/>
            <a:ext cx="1390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3420" y="261747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22020" y="2522220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in distant regions</a:t>
            </a: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reported slow loading times when accessing the website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3420" y="3365183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22020" y="3269933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Images, CSS, and JavaScript</a:t>
            </a: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assets took significantly longer to download for remote users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3420" y="411289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22020" y="4017645"/>
            <a:ext cx="47910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degraded </a:t>
            </a: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proportionally with distance</a:t>
            </a:r>
            <a:r>
              <a:rPr lang="en-US" sz="135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origin server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8400" y="1447800"/>
            <a:ext cx="5562600" cy="5029200"/>
          </a:xfrm>
          <a:custGeom>
            <a:avLst/>
            <a:gdLst/>
            <a:ahLst/>
            <a:cxnLst/>
            <a:rect l="l" t="t" r="r" b="b"/>
            <a:pathLst>
              <a:path w="5562600" h="5029200">
                <a:moveTo>
                  <a:pt x="228577" y="0"/>
                </a:moveTo>
                <a:lnTo>
                  <a:pt x="5334023" y="0"/>
                </a:lnTo>
                <a:cubicBezTo>
                  <a:pt x="5460178" y="0"/>
                  <a:pt x="5562600" y="102422"/>
                  <a:pt x="5562600" y="228577"/>
                </a:cubicBezTo>
                <a:lnTo>
                  <a:pt x="5562600" y="4800623"/>
                </a:lnTo>
                <a:cubicBezTo>
                  <a:pt x="5562600" y="4926863"/>
                  <a:pt x="5460263" y="5029200"/>
                  <a:pt x="5334023" y="5029200"/>
                </a:cubicBezTo>
                <a:lnTo>
                  <a:pt x="228577" y="5029200"/>
                </a:lnTo>
                <a:cubicBezTo>
                  <a:pt x="102422" y="5029200"/>
                  <a:pt x="0" y="4926778"/>
                  <a:pt x="0" y="4800623"/>
                </a:cubicBezTo>
                <a:lnTo>
                  <a:pt x="0" y="228577"/>
                </a:lnTo>
                <a:cubicBezTo>
                  <a:pt x="0" y="102337"/>
                  <a:pt x="102337" y="0"/>
                  <a:pt x="22857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5532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705600" y="190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39000" y="18669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Goal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53200" y="2514600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743700" y="2705100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global load speed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deliver consistent performance regardless of user location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53200" y="3643313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43700" y="3833812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Enhance Core Web Vitals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including FCP (First Contentful Paint) and TTI (Time to Interactive)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3200" y="4772025"/>
            <a:ext cx="4953000" cy="942975"/>
          </a:xfrm>
          <a:custGeom>
            <a:avLst/>
            <a:gdLst/>
            <a:ahLst/>
            <a:cxnLst/>
            <a:rect l="l" t="t" r="r" b="b"/>
            <a:pathLst>
              <a:path w="4953000" h="942975">
                <a:moveTo>
                  <a:pt x="152404" y="0"/>
                </a:moveTo>
                <a:lnTo>
                  <a:pt x="4800596" y="0"/>
                </a:lnTo>
                <a:cubicBezTo>
                  <a:pt x="4884767" y="0"/>
                  <a:pt x="4953000" y="68233"/>
                  <a:pt x="4953000" y="152404"/>
                </a:cubicBezTo>
                <a:lnTo>
                  <a:pt x="4953000" y="790571"/>
                </a:lnTo>
                <a:cubicBezTo>
                  <a:pt x="4953000" y="874742"/>
                  <a:pt x="4884767" y="942975"/>
                  <a:pt x="4800596" y="942975"/>
                </a:cubicBezTo>
                <a:lnTo>
                  <a:pt x="152404" y="942975"/>
                </a:lnTo>
                <a:cubicBezTo>
                  <a:pt x="68290" y="942975"/>
                  <a:pt x="0" y="874685"/>
                  <a:pt x="0" y="790571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743700" y="4962525"/>
            <a:ext cx="4657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the website </a:t>
            </a: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consistently fast worldwide</a:t>
            </a:r>
            <a:r>
              <a:rPr lang="en-US" sz="13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just near the origin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Objectives &amp; Expected Outcome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strategic goals to achieve global performance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7183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7220" y="1950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50570" y="20840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226820" y="1988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18379" y="204597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5603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Edge Caching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" y="29413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static assets at </a:t>
            </a: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locations near users globally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reducing latency by serving content from the closest point of presence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95060" y="17183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27470" y="19507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72726" y="20840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037070" y="1988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11365" y="204597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4C7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7470" y="25603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Origin Load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27470" y="29413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 origin fetches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reduce load on Cloud Storage by serving cached content from edge locations, improving scalability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41948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17220" y="4427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50570" y="45605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26820" y="4465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00282" y="452247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9810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7220" y="50368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HTTPS Delivery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" y="54178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</a:t>
            </a: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secure content delivery using HTTPS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optional Signed URLs for private or time-limited asset access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95060" y="4194810"/>
            <a:ext cx="5608320" cy="2274570"/>
          </a:xfrm>
          <a:custGeom>
            <a:avLst/>
            <a:gdLst/>
            <a:ahLst/>
            <a:cxnLst/>
            <a:rect l="l" t="t" r="r" b="b"/>
            <a:pathLst>
              <a:path w="5608320" h="2274570">
                <a:moveTo>
                  <a:pt x="152396" y="0"/>
                </a:moveTo>
                <a:lnTo>
                  <a:pt x="5455924" y="0"/>
                </a:lnTo>
                <a:cubicBezTo>
                  <a:pt x="5540090" y="0"/>
                  <a:pt x="5608320" y="68230"/>
                  <a:pt x="5608320" y="152396"/>
                </a:cubicBezTo>
                <a:lnTo>
                  <a:pt x="5608320" y="2122174"/>
                </a:lnTo>
                <a:cubicBezTo>
                  <a:pt x="5608320" y="2206340"/>
                  <a:pt x="5540090" y="2274570"/>
                  <a:pt x="5455924" y="2274570"/>
                </a:cubicBezTo>
                <a:lnTo>
                  <a:pt x="152396" y="2274570"/>
                </a:lnTo>
                <a:cubicBezTo>
                  <a:pt x="68230" y="2274570"/>
                  <a:pt x="0" y="2206340"/>
                  <a:pt x="0" y="212217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27470" y="44272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560820" y="45605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037070" y="4465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110651" y="452247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549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27470" y="5036820"/>
            <a:ext cx="523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Tracking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7470" y="5417820"/>
            <a:ext cx="52197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improvements using testing tools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GCP monitoring metrics like cache hit ratio and latency measurements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FUNDAMENTALS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 FCP, TTI &amp; CDN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metrics and technologies behind performance optimization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056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0620" y="1931670"/>
            <a:ext cx="44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FCP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Contentful Paint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when the </a:t>
            </a: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visible content appears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screen. Critical for perceived speed and user experience.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45531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398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585097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14883"/>
                </a:moveTo>
                <a:cubicBezTo>
                  <a:pt x="47625" y="6660"/>
                  <a:pt x="54285" y="0"/>
                  <a:pt x="62508" y="0"/>
                </a:cubicBezTo>
                <a:cubicBezTo>
                  <a:pt x="70731" y="0"/>
                  <a:pt x="77391" y="6660"/>
                  <a:pt x="77391" y="14883"/>
                </a:cubicBezTo>
                <a:lnTo>
                  <a:pt x="77391" y="70024"/>
                </a:lnTo>
                <a:cubicBezTo>
                  <a:pt x="80553" y="67196"/>
                  <a:pt x="84720" y="65484"/>
                  <a:pt x="89297" y="65484"/>
                </a:cubicBezTo>
                <a:cubicBezTo>
                  <a:pt x="96962" y="65484"/>
                  <a:pt x="103510" y="70321"/>
                  <a:pt x="106040" y="77093"/>
                </a:cubicBezTo>
                <a:cubicBezTo>
                  <a:pt x="109314" y="73633"/>
                  <a:pt x="113928" y="71438"/>
                  <a:pt x="119063" y="71438"/>
                </a:cubicBezTo>
                <a:cubicBezTo>
                  <a:pt x="128476" y="71438"/>
                  <a:pt x="136178" y="78693"/>
                  <a:pt x="136885" y="87920"/>
                </a:cubicBezTo>
                <a:cubicBezTo>
                  <a:pt x="140047" y="85055"/>
                  <a:pt x="144252" y="83344"/>
                  <a:pt x="148828" y="83344"/>
                </a:cubicBezTo>
                <a:cubicBezTo>
                  <a:pt x="158688" y="83344"/>
                  <a:pt x="166688" y="91343"/>
                  <a:pt x="166688" y="101203"/>
                </a:cubicBezTo>
                <a:lnTo>
                  <a:pt x="166688" y="142875"/>
                </a:lnTo>
                <a:cubicBezTo>
                  <a:pt x="166688" y="169180"/>
                  <a:pt x="145368" y="190500"/>
                  <a:pt x="119063" y="190500"/>
                </a:cubicBezTo>
                <a:lnTo>
                  <a:pt x="87325" y="190500"/>
                </a:lnTo>
                <a:cubicBezTo>
                  <a:pt x="85465" y="190500"/>
                  <a:pt x="83641" y="190388"/>
                  <a:pt x="81855" y="190128"/>
                </a:cubicBezTo>
                <a:cubicBezTo>
                  <a:pt x="61280" y="188044"/>
                  <a:pt x="42342" y="177478"/>
                  <a:pt x="29766" y="160734"/>
                </a:cubicBezTo>
                <a:lnTo>
                  <a:pt x="2977" y="125016"/>
                </a:lnTo>
                <a:cubicBezTo>
                  <a:pt x="-1972" y="118430"/>
                  <a:pt x="-633" y="109128"/>
                  <a:pt x="5953" y="104180"/>
                </a:cubicBezTo>
                <a:cubicBezTo>
                  <a:pt x="12539" y="99231"/>
                  <a:pt x="21841" y="100571"/>
                  <a:pt x="26789" y="107156"/>
                </a:cubicBezTo>
                <a:lnTo>
                  <a:pt x="47625" y="134950"/>
                </a:lnTo>
                <a:lnTo>
                  <a:pt x="47625" y="14883"/>
                </a:lnTo>
                <a:close/>
                <a:moveTo>
                  <a:pt x="89297" y="113109"/>
                </a:moveTo>
                <a:cubicBezTo>
                  <a:pt x="89297" y="109835"/>
                  <a:pt x="86618" y="107156"/>
                  <a:pt x="83344" y="107156"/>
                </a:cubicBezTo>
                <a:cubicBezTo>
                  <a:pt x="80070" y="107156"/>
                  <a:pt x="77391" y="109835"/>
                  <a:pt x="77391" y="113109"/>
                </a:cubicBezTo>
                <a:lnTo>
                  <a:pt x="77391" y="148828"/>
                </a:lnTo>
                <a:cubicBezTo>
                  <a:pt x="77391" y="152102"/>
                  <a:pt x="80070" y="154781"/>
                  <a:pt x="83344" y="154781"/>
                </a:cubicBezTo>
                <a:cubicBezTo>
                  <a:pt x="86618" y="154781"/>
                  <a:pt x="89297" y="152102"/>
                  <a:pt x="89297" y="148828"/>
                </a:cubicBezTo>
                <a:lnTo>
                  <a:pt x="89297" y="113109"/>
                </a:lnTo>
                <a:close/>
                <a:moveTo>
                  <a:pt x="107156" y="107156"/>
                </a:moveTo>
                <a:cubicBezTo>
                  <a:pt x="103882" y="107156"/>
                  <a:pt x="101203" y="109835"/>
                  <a:pt x="101203" y="113109"/>
                </a:cubicBezTo>
                <a:lnTo>
                  <a:pt x="101203" y="148828"/>
                </a:lnTo>
                <a:cubicBezTo>
                  <a:pt x="101203" y="152102"/>
                  <a:pt x="103882" y="154781"/>
                  <a:pt x="107156" y="154781"/>
                </a:cubicBezTo>
                <a:cubicBezTo>
                  <a:pt x="110430" y="154781"/>
                  <a:pt x="113109" y="152102"/>
                  <a:pt x="113109" y="148828"/>
                </a:cubicBezTo>
                <a:lnTo>
                  <a:pt x="113109" y="113109"/>
                </a:lnTo>
                <a:cubicBezTo>
                  <a:pt x="113109" y="109835"/>
                  <a:pt x="110430" y="107156"/>
                  <a:pt x="107156" y="107156"/>
                </a:cubicBezTo>
                <a:close/>
                <a:moveTo>
                  <a:pt x="136922" y="113109"/>
                </a:moveTo>
                <a:cubicBezTo>
                  <a:pt x="136922" y="109835"/>
                  <a:pt x="134243" y="107156"/>
                  <a:pt x="130969" y="107156"/>
                </a:cubicBezTo>
                <a:cubicBezTo>
                  <a:pt x="127695" y="107156"/>
                  <a:pt x="125016" y="109835"/>
                  <a:pt x="125016" y="113109"/>
                </a:cubicBezTo>
                <a:lnTo>
                  <a:pt x="125016" y="148828"/>
                </a:lnTo>
                <a:cubicBezTo>
                  <a:pt x="125016" y="152102"/>
                  <a:pt x="127695" y="154781"/>
                  <a:pt x="130969" y="154781"/>
                </a:cubicBezTo>
                <a:cubicBezTo>
                  <a:pt x="134243" y="154781"/>
                  <a:pt x="136922" y="152102"/>
                  <a:pt x="136922" y="148828"/>
                </a:cubicBezTo>
                <a:lnTo>
                  <a:pt x="136922" y="11310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11341" y="1931670"/>
            <a:ext cx="371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TTI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9841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to Interactive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39841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when the page becomes </a:t>
            </a: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reliably interactive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responsive to user input.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06371" y="1642110"/>
            <a:ext cx="3703320" cy="2007870"/>
          </a:xfrm>
          <a:custGeom>
            <a:avLst/>
            <a:gdLst/>
            <a:ahLst/>
            <a:cxnLst/>
            <a:rect l="l" t="t" r="r" b="b"/>
            <a:pathLst>
              <a:path w="3703320" h="2007870">
                <a:moveTo>
                  <a:pt x="152397" y="0"/>
                </a:moveTo>
                <a:lnTo>
                  <a:pt x="3550923" y="0"/>
                </a:lnTo>
                <a:cubicBezTo>
                  <a:pt x="3635089" y="0"/>
                  <a:pt x="3703320" y="68231"/>
                  <a:pt x="3703320" y="152397"/>
                </a:cubicBezTo>
                <a:lnTo>
                  <a:pt x="3703320" y="1855473"/>
                </a:lnTo>
                <a:cubicBezTo>
                  <a:pt x="3703320" y="1939639"/>
                  <a:pt x="3635089" y="2007870"/>
                  <a:pt x="3550923" y="2007870"/>
                </a:cubicBezTo>
                <a:lnTo>
                  <a:pt x="152397" y="2007870"/>
                </a:lnTo>
                <a:cubicBezTo>
                  <a:pt x="68231" y="2007870"/>
                  <a:pt x="0" y="1939639"/>
                  <a:pt x="0" y="185547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30068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42212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872181" y="1931670"/>
            <a:ext cx="49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CDN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00681" y="240792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0681" y="2712720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Caches content at edge locations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worldwide, reducing latency by serving from nearest point.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810001"/>
            <a:ext cx="11418570" cy="1874520"/>
          </a:xfrm>
          <a:custGeom>
            <a:avLst/>
            <a:gdLst/>
            <a:ahLst/>
            <a:cxnLst/>
            <a:rect l="l" t="t" r="r" b="b"/>
            <a:pathLst>
              <a:path w="11418570" h="1874520">
                <a:moveTo>
                  <a:pt x="152398" y="0"/>
                </a:moveTo>
                <a:lnTo>
                  <a:pt x="11266172" y="0"/>
                </a:lnTo>
                <a:cubicBezTo>
                  <a:pt x="11350339" y="0"/>
                  <a:pt x="11418570" y="68231"/>
                  <a:pt x="11418570" y="152398"/>
                </a:cubicBezTo>
                <a:lnTo>
                  <a:pt x="11418570" y="1722122"/>
                </a:lnTo>
                <a:cubicBezTo>
                  <a:pt x="11418570" y="1806289"/>
                  <a:pt x="11350339" y="1874520"/>
                  <a:pt x="11266172" y="1874520"/>
                </a:cubicBezTo>
                <a:lnTo>
                  <a:pt x="152398" y="1874520"/>
                </a:lnTo>
                <a:cubicBezTo>
                  <a:pt x="68231" y="1874520"/>
                  <a:pt x="0" y="1806289"/>
                  <a:pt x="0" y="17221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79120" y="40043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45808" y="415671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264920" y="4118611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Hit vs Cache Miss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9120" y="46901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2470" y="48234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188720" y="469011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88720" y="4994911"/>
            <a:ext cx="4867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 is served </a:t>
            </a: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immediately from the nearest edge location</a:t>
            </a: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resulting in ultra-fast delivery and optimal performance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0300" y="469011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69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343650" y="48234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819900" y="4690111"/>
            <a:ext cx="487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Miss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19900" y="4994911"/>
            <a:ext cx="48672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location </a:t>
            </a:r>
            <a:r>
              <a:rPr lang="en-US" sz="1200" b="1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fetches content from origin</a:t>
            </a: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caches it for future requests, adding initial latency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infrastructure for global static website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6903720" cy="4827270"/>
          </a:xfrm>
          <a:custGeom>
            <a:avLst/>
            <a:gdLst/>
            <a:ahLst/>
            <a:cxnLst/>
            <a:rect l="l" t="t" r="r" b="b"/>
            <a:pathLst>
              <a:path w="6903720" h="4827270">
                <a:moveTo>
                  <a:pt x="228620" y="0"/>
                </a:moveTo>
                <a:lnTo>
                  <a:pt x="6675100" y="0"/>
                </a:lnTo>
                <a:cubicBezTo>
                  <a:pt x="6801364" y="0"/>
                  <a:pt x="6903720" y="102356"/>
                  <a:pt x="6903720" y="228620"/>
                </a:cubicBezTo>
                <a:lnTo>
                  <a:pt x="6903720" y="4598650"/>
                </a:lnTo>
                <a:cubicBezTo>
                  <a:pt x="6903720" y="4724914"/>
                  <a:pt x="6801364" y="4827270"/>
                  <a:pt x="6675100" y="4827270"/>
                </a:cubicBezTo>
                <a:lnTo>
                  <a:pt x="228620" y="4827270"/>
                </a:lnTo>
                <a:cubicBezTo>
                  <a:pt x="102356" y="4827270"/>
                  <a:pt x="0" y="4724914"/>
                  <a:pt x="0" y="4598650"/>
                </a:cubicBezTo>
                <a:lnTo>
                  <a:pt x="0" y="228620"/>
                </a:lnTo>
                <a:cubicBezTo>
                  <a:pt x="0" y="102441"/>
                  <a:pt x="102441" y="0"/>
                  <a:pt x="22862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7220" y="1874520"/>
            <a:ext cx="6534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" y="3486150"/>
            <a:ext cx="1257300" cy="800100"/>
          </a:xfrm>
          <a:custGeom>
            <a:avLst/>
            <a:gdLst/>
            <a:ahLst/>
            <a:cxnLst/>
            <a:rect l="l" t="t" r="r" b="b"/>
            <a:pathLst>
              <a:path w="1257300" h="800100">
                <a:moveTo>
                  <a:pt x="152403" y="0"/>
                </a:moveTo>
                <a:lnTo>
                  <a:pt x="1104897" y="0"/>
                </a:lnTo>
                <a:cubicBezTo>
                  <a:pt x="1189067" y="0"/>
                  <a:pt x="1257300" y="68233"/>
                  <a:pt x="1257300" y="152403"/>
                </a:cubicBezTo>
                <a:lnTo>
                  <a:pt x="1257300" y="647697"/>
                </a:lnTo>
                <a:cubicBezTo>
                  <a:pt x="1257300" y="731867"/>
                  <a:pt x="1189067" y="800100"/>
                  <a:pt x="1104897" y="800100"/>
                </a:cubicBezTo>
                <a:lnTo>
                  <a:pt x="152403" y="800100"/>
                </a:lnTo>
                <a:cubicBezTo>
                  <a:pt x="68290" y="800100"/>
                  <a:pt x="0" y="731810"/>
                  <a:pt x="0" y="6476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27760" y="3638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9052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Users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7298" y="440055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0">
                <a:srgbClr val="FFFFFF"/>
              </a:gs>
              <a:gs pos="100000">
                <a:srgbClr val="34C759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73549" y="4857750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Request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14538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43150" y="3162300"/>
            <a:ext cx="1257300" cy="1447800"/>
          </a:xfrm>
          <a:custGeom>
            <a:avLst/>
            <a:gdLst/>
            <a:ahLst/>
            <a:cxnLst/>
            <a:rect l="l" t="t" r="r" b="b"/>
            <a:pathLst>
              <a:path w="1257300" h="1447800">
                <a:moveTo>
                  <a:pt x="152397" y="0"/>
                </a:moveTo>
                <a:lnTo>
                  <a:pt x="1104903" y="0"/>
                </a:lnTo>
                <a:cubicBezTo>
                  <a:pt x="1189069" y="0"/>
                  <a:pt x="1257300" y="68231"/>
                  <a:pt x="1257300" y="152397"/>
                </a:cubicBezTo>
                <a:lnTo>
                  <a:pt x="1257300" y="1295403"/>
                </a:lnTo>
                <a:cubicBezTo>
                  <a:pt x="1257300" y="1379569"/>
                  <a:pt x="1189069" y="1447800"/>
                  <a:pt x="1104903" y="1447800"/>
                </a:cubicBezTo>
                <a:lnTo>
                  <a:pt x="152397" y="1447800"/>
                </a:lnTo>
                <a:cubicBezTo>
                  <a:pt x="68231" y="1447800"/>
                  <a:pt x="0" y="1379569"/>
                  <a:pt x="0" y="12954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877503" y="3314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57450" y="358140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Load Balancer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62213" y="4076700"/>
            <a:ext cx="1019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Front Door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63228" y="472440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AD46FF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520910" y="51816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Request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40587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069199" y="3371850"/>
            <a:ext cx="1257300" cy="1028700"/>
          </a:xfrm>
          <a:custGeom>
            <a:avLst/>
            <a:gdLst/>
            <a:ahLst/>
            <a:cxnLst/>
            <a:rect l="l" t="t" r="r" b="b"/>
            <a:pathLst>
              <a:path w="1257300" h="1028700">
                <a:moveTo>
                  <a:pt x="152402" y="0"/>
                </a:moveTo>
                <a:lnTo>
                  <a:pt x="1104898" y="0"/>
                </a:lnTo>
                <a:cubicBezTo>
                  <a:pt x="1189067" y="0"/>
                  <a:pt x="1257300" y="68233"/>
                  <a:pt x="1257300" y="152402"/>
                </a:cubicBezTo>
                <a:lnTo>
                  <a:pt x="1257300" y="876298"/>
                </a:lnTo>
                <a:cubicBezTo>
                  <a:pt x="1257300" y="960467"/>
                  <a:pt x="1189067" y="1028700"/>
                  <a:pt x="1104898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591645" y="35242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183499" y="37909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CDN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88262" y="40576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 Caching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89277" y="4514850"/>
            <a:ext cx="19050" cy="381000"/>
          </a:xfrm>
          <a:custGeom>
            <a:avLst/>
            <a:gdLst/>
            <a:ahLst/>
            <a:cxnLst/>
            <a:rect l="l" t="t" r="r" b="b"/>
            <a:pathLst>
              <a:path w="19050" h="381000">
                <a:moveTo>
                  <a:pt x="0" y="0"/>
                </a:moveTo>
                <a:lnTo>
                  <a:pt x="19050" y="0"/>
                </a:lnTo>
                <a:lnTo>
                  <a:pt x="190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FF6900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90417" y="4972050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Check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66636" y="41719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795248" y="3562350"/>
            <a:ext cx="1257300" cy="1028700"/>
          </a:xfrm>
          <a:custGeom>
            <a:avLst/>
            <a:gdLst/>
            <a:ahLst/>
            <a:cxnLst/>
            <a:rect l="l" t="t" r="r" b="b"/>
            <a:pathLst>
              <a:path w="1257300" h="1028700">
                <a:moveTo>
                  <a:pt x="152402" y="0"/>
                </a:moveTo>
                <a:lnTo>
                  <a:pt x="1104898" y="0"/>
                </a:lnTo>
                <a:cubicBezTo>
                  <a:pt x="1189067" y="0"/>
                  <a:pt x="1257300" y="68233"/>
                  <a:pt x="1257300" y="152402"/>
                </a:cubicBezTo>
                <a:lnTo>
                  <a:pt x="1257300" y="876298"/>
                </a:lnTo>
                <a:cubicBezTo>
                  <a:pt x="1257300" y="960467"/>
                  <a:pt x="1189067" y="1028700"/>
                  <a:pt x="1104898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341507" y="3714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09548" y="3981450"/>
            <a:ext cx="1028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14311" y="4248150"/>
            <a:ext cx="1019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 Site Host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98607" y="4781550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 Source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23202" y="1642110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717512" y="1836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835384" y="194119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212812" y="1893570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Storage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17512" y="2331720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Hosts the static website files including HTML, CSS, JavaScript, and media assets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523202" y="3305771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717512" y="350008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824668" y="360485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212812" y="3557232"/>
            <a:ext cx="115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717512" y="3995382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Provides global HTTPS endpoint and routes requests to the backend bucket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523202" y="4969551"/>
            <a:ext cx="4284345" cy="1503045"/>
          </a:xfrm>
          <a:custGeom>
            <a:avLst/>
            <a:gdLst/>
            <a:ahLst/>
            <a:cxnLst/>
            <a:rect l="l" t="t" r="r" b="b"/>
            <a:pathLst>
              <a:path w="4284345" h="1503045">
                <a:moveTo>
                  <a:pt x="152394" y="0"/>
                </a:moveTo>
                <a:lnTo>
                  <a:pt x="4131951" y="0"/>
                </a:lnTo>
                <a:cubicBezTo>
                  <a:pt x="4216060" y="0"/>
                  <a:pt x="4284345" y="68285"/>
                  <a:pt x="4284345" y="152394"/>
                </a:cubicBezTo>
                <a:lnTo>
                  <a:pt x="4284345" y="1350651"/>
                </a:lnTo>
                <a:cubicBezTo>
                  <a:pt x="4284345" y="1434816"/>
                  <a:pt x="4216116" y="1503045"/>
                  <a:pt x="4131951" y="1503045"/>
                </a:cubicBezTo>
                <a:lnTo>
                  <a:pt x="152394" y="1503045"/>
                </a:lnTo>
                <a:cubicBezTo>
                  <a:pt x="68285" y="1503045"/>
                  <a:pt x="0" y="1434760"/>
                  <a:pt x="0" y="1350651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717512" y="51638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14300" y="0"/>
                </a:moveTo>
                <a:lnTo>
                  <a:pt x="266700" y="0"/>
                </a:lnTo>
                <a:cubicBezTo>
                  <a:pt x="329784" y="0"/>
                  <a:pt x="381000" y="51216"/>
                  <a:pt x="381000" y="114300"/>
                </a:cubicBezTo>
                <a:lnTo>
                  <a:pt x="381000" y="266700"/>
                </a:lnTo>
                <a:cubicBezTo>
                  <a:pt x="381000" y="329784"/>
                  <a:pt x="329784" y="381000"/>
                  <a:pt x="266700" y="381000"/>
                </a:cubicBezTo>
                <a:lnTo>
                  <a:pt x="114300" y="381000"/>
                </a:lnTo>
                <a:cubicBezTo>
                  <a:pt x="51216" y="381000"/>
                  <a:pt x="0" y="329784"/>
                  <a:pt x="0" y="266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824668" y="52686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212812" y="5221009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7512" y="5659159"/>
            <a:ext cx="39719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Logging and Monitoring for visibility into cache performance and latency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Steps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High-level process for deploying optimized static website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69620" y="193167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50620" y="1931670"/>
            <a:ext cx="1924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to Cloud Storage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Upload all static website files (HTML, CSS, JS, images) to a Cloud Storage bucket configured for website hosting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89836" y="361569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585" y="58757"/>
                </a:moveTo>
                <a:lnTo>
                  <a:pt x="8439" y="77145"/>
                </a:lnTo>
                <a:lnTo>
                  <a:pt x="8439" y="25003"/>
                </a:lnTo>
                <a:cubicBezTo>
                  <a:pt x="8439" y="15809"/>
                  <a:pt x="15913" y="8334"/>
                  <a:pt x="25107" y="8334"/>
                </a:cubicBezTo>
                <a:lnTo>
                  <a:pt x="61232" y="8334"/>
                </a:lnTo>
                <a:cubicBezTo>
                  <a:pt x="64826" y="8334"/>
                  <a:pt x="68342" y="9506"/>
                  <a:pt x="71233" y="11668"/>
                </a:cubicBezTo>
                <a:lnTo>
                  <a:pt x="81234" y="19169"/>
                </a:lnTo>
                <a:cubicBezTo>
                  <a:pt x="82667" y="20263"/>
                  <a:pt x="84438" y="20836"/>
                  <a:pt x="86235" y="20836"/>
                </a:cubicBezTo>
                <a:lnTo>
                  <a:pt x="116785" y="20836"/>
                </a:lnTo>
                <a:cubicBezTo>
                  <a:pt x="125979" y="20836"/>
                  <a:pt x="133454" y="28311"/>
                  <a:pt x="133454" y="37505"/>
                </a:cubicBezTo>
                <a:lnTo>
                  <a:pt x="133454" y="41672"/>
                </a:lnTo>
                <a:lnTo>
                  <a:pt x="38286" y="41672"/>
                </a:lnTo>
                <a:cubicBezTo>
                  <a:pt x="27529" y="41672"/>
                  <a:pt x="17971" y="48548"/>
                  <a:pt x="14559" y="58757"/>
                </a:cubicBezTo>
                <a:close/>
                <a:moveTo>
                  <a:pt x="124443" y="116681"/>
                </a:moveTo>
                <a:lnTo>
                  <a:pt x="25784" y="116681"/>
                </a:lnTo>
                <a:cubicBezTo>
                  <a:pt x="17242" y="116681"/>
                  <a:pt x="11225" y="108321"/>
                  <a:pt x="13934" y="100221"/>
                </a:cubicBezTo>
                <a:lnTo>
                  <a:pt x="26436" y="62716"/>
                </a:lnTo>
                <a:cubicBezTo>
                  <a:pt x="28129" y="57611"/>
                  <a:pt x="32921" y="54173"/>
                  <a:pt x="38286" y="54173"/>
                </a:cubicBezTo>
                <a:lnTo>
                  <a:pt x="136944" y="54173"/>
                </a:lnTo>
                <a:cubicBezTo>
                  <a:pt x="145487" y="54173"/>
                  <a:pt x="151503" y="62534"/>
                  <a:pt x="148795" y="70634"/>
                </a:cubicBezTo>
                <a:lnTo>
                  <a:pt x="136293" y="108139"/>
                </a:lnTo>
                <a:cubicBezTo>
                  <a:pt x="134600" y="113243"/>
                  <a:pt x="129808" y="116681"/>
                  <a:pt x="124443" y="116681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7720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Bucket Configuration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5531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398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13077" y="193167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1341" y="1931670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Configure Website Pages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9841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the main page (index.html) and error page (404.html) for the bucket's website configuration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9841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58891" y="3615691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50814" y="2474"/>
                </a:moveTo>
                <a:cubicBezTo>
                  <a:pt x="51595" y="-1380"/>
                  <a:pt x="55007" y="-4167"/>
                  <a:pt x="58966" y="-4167"/>
                </a:cubicBezTo>
                <a:lnTo>
                  <a:pt x="74541" y="-4167"/>
                </a:lnTo>
                <a:cubicBezTo>
                  <a:pt x="78499" y="-4167"/>
                  <a:pt x="81911" y="-1380"/>
                  <a:pt x="82693" y="2474"/>
                </a:cubicBezTo>
                <a:lnTo>
                  <a:pt x="86469" y="20706"/>
                </a:lnTo>
                <a:cubicBezTo>
                  <a:pt x="90141" y="22268"/>
                  <a:pt x="93579" y="24274"/>
                  <a:pt x="96705" y="26644"/>
                </a:cubicBezTo>
                <a:lnTo>
                  <a:pt x="114363" y="20784"/>
                </a:lnTo>
                <a:cubicBezTo>
                  <a:pt x="118114" y="19534"/>
                  <a:pt x="122229" y="21096"/>
                  <a:pt x="124208" y="24534"/>
                </a:cubicBezTo>
                <a:lnTo>
                  <a:pt x="131996" y="38026"/>
                </a:lnTo>
                <a:cubicBezTo>
                  <a:pt x="133975" y="41464"/>
                  <a:pt x="133272" y="45787"/>
                  <a:pt x="130303" y="48418"/>
                </a:cubicBezTo>
                <a:lnTo>
                  <a:pt x="116421" y="60763"/>
                </a:lnTo>
                <a:cubicBezTo>
                  <a:pt x="116655" y="62690"/>
                  <a:pt x="116759" y="64670"/>
                  <a:pt x="116759" y="66675"/>
                </a:cubicBezTo>
                <a:cubicBezTo>
                  <a:pt x="116759" y="68680"/>
                  <a:pt x="116629" y="70660"/>
                  <a:pt x="116421" y="72587"/>
                </a:cubicBezTo>
                <a:lnTo>
                  <a:pt x="130329" y="84959"/>
                </a:lnTo>
                <a:cubicBezTo>
                  <a:pt x="133298" y="87589"/>
                  <a:pt x="133975" y="91939"/>
                  <a:pt x="132022" y="95350"/>
                </a:cubicBezTo>
                <a:lnTo>
                  <a:pt x="124234" y="108842"/>
                </a:lnTo>
                <a:cubicBezTo>
                  <a:pt x="122255" y="112254"/>
                  <a:pt x="118140" y="113842"/>
                  <a:pt x="114389" y="112592"/>
                </a:cubicBezTo>
                <a:lnTo>
                  <a:pt x="96731" y="106732"/>
                </a:lnTo>
                <a:cubicBezTo>
                  <a:pt x="93579" y="109102"/>
                  <a:pt x="90141" y="111082"/>
                  <a:pt x="86495" y="112670"/>
                </a:cubicBezTo>
                <a:lnTo>
                  <a:pt x="82745" y="130876"/>
                </a:lnTo>
                <a:cubicBezTo>
                  <a:pt x="81937" y="134756"/>
                  <a:pt x="78525" y="137517"/>
                  <a:pt x="74593" y="137517"/>
                </a:cubicBezTo>
                <a:lnTo>
                  <a:pt x="59018" y="137517"/>
                </a:lnTo>
                <a:cubicBezTo>
                  <a:pt x="55059" y="137517"/>
                  <a:pt x="51647" y="134730"/>
                  <a:pt x="50866" y="130876"/>
                </a:cubicBezTo>
                <a:lnTo>
                  <a:pt x="47115" y="112670"/>
                </a:lnTo>
                <a:cubicBezTo>
                  <a:pt x="43443" y="111108"/>
                  <a:pt x="40031" y="109102"/>
                  <a:pt x="36880" y="106732"/>
                </a:cubicBezTo>
                <a:lnTo>
                  <a:pt x="19143" y="112592"/>
                </a:lnTo>
                <a:cubicBezTo>
                  <a:pt x="15393" y="113842"/>
                  <a:pt x="11277" y="112280"/>
                  <a:pt x="9298" y="108842"/>
                </a:cubicBezTo>
                <a:lnTo>
                  <a:pt x="1511" y="95350"/>
                </a:lnTo>
                <a:cubicBezTo>
                  <a:pt x="-469" y="91913"/>
                  <a:pt x="234" y="87589"/>
                  <a:pt x="3204" y="84959"/>
                </a:cubicBezTo>
                <a:lnTo>
                  <a:pt x="17112" y="72587"/>
                </a:lnTo>
                <a:cubicBezTo>
                  <a:pt x="16877" y="70660"/>
                  <a:pt x="16773" y="68680"/>
                  <a:pt x="16773" y="66675"/>
                </a:cubicBezTo>
                <a:cubicBezTo>
                  <a:pt x="16773" y="64670"/>
                  <a:pt x="16903" y="62690"/>
                  <a:pt x="17112" y="60763"/>
                </a:cubicBezTo>
                <a:lnTo>
                  <a:pt x="3204" y="48391"/>
                </a:lnTo>
                <a:cubicBezTo>
                  <a:pt x="234" y="45761"/>
                  <a:pt x="-443" y="41411"/>
                  <a:pt x="1511" y="38000"/>
                </a:cubicBezTo>
                <a:lnTo>
                  <a:pt x="9298" y="24508"/>
                </a:lnTo>
                <a:cubicBezTo>
                  <a:pt x="11277" y="21070"/>
                  <a:pt x="15393" y="19508"/>
                  <a:pt x="19143" y="20758"/>
                </a:cubicBezTo>
                <a:lnTo>
                  <a:pt x="36801" y="26618"/>
                </a:lnTo>
                <a:cubicBezTo>
                  <a:pt x="39953" y="24248"/>
                  <a:pt x="43391" y="22268"/>
                  <a:pt x="47037" y="20680"/>
                </a:cubicBezTo>
                <a:lnTo>
                  <a:pt x="50814" y="2474"/>
                </a:lnTo>
                <a:close/>
                <a:moveTo>
                  <a:pt x="66753" y="87511"/>
                </a:moveTo>
                <a:cubicBezTo>
                  <a:pt x="74197" y="87483"/>
                  <a:pt x="81061" y="83486"/>
                  <a:pt x="84759" y="77025"/>
                </a:cubicBezTo>
                <a:cubicBezTo>
                  <a:pt x="88456" y="70565"/>
                  <a:pt x="88427" y="62622"/>
                  <a:pt x="84680" y="56189"/>
                </a:cubicBezTo>
                <a:cubicBezTo>
                  <a:pt x="80934" y="49757"/>
                  <a:pt x="74041" y="45811"/>
                  <a:pt x="66597" y="45839"/>
                </a:cubicBezTo>
                <a:cubicBezTo>
                  <a:pt x="59153" y="45867"/>
                  <a:pt x="52289" y="49864"/>
                  <a:pt x="48591" y="56325"/>
                </a:cubicBezTo>
                <a:cubicBezTo>
                  <a:pt x="44894" y="62785"/>
                  <a:pt x="44923" y="70728"/>
                  <a:pt x="48670" y="77161"/>
                </a:cubicBezTo>
                <a:cubicBezTo>
                  <a:pt x="52416" y="83593"/>
                  <a:pt x="59309" y="87539"/>
                  <a:pt x="66753" y="87511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8441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Website Settings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6371" y="164211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0068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473083" y="193167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72181" y="193167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Content Types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0681" y="2446020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Ensure correct MIME types are set for all files (text/html, text/css, application/javascript, image/*)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0681" y="343661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36399" y="361569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16669"/>
                </a:moveTo>
                <a:cubicBezTo>
                  <a:pt x="0" y="7475"/>
                  <a:pt x="7475" y="0"/>
                  <a:pt x="16669" y="0"/>
                </a:cubicBezTo>
                <a:lnTo>
                  <a:pt x="55606" y="0"/>
                </a:lnTo>
                <a:cubicBezTo>
                  <a:pt x="60034" y="0"/>
                  <a:pt x="64279" y="1745"/>
                  <a:pt x="67404" y="4870"/>
                </a:cubicBezTo>
                <a:lnTo>
                  <a:pt x="95142" y="32634"/>
                </a:lnTo>
                <a:cubicBezTo>
                  <a:pt x="98267" y="35760"/>
                  <a:pt x="100013" y="40005"/>
                  <a:pt x="100013" y="4443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16669"/>
                </a:lnTo>
                <a:close/>
                <a:moveTo>
                  <a:pt x="54173" y="15236"/>
                </a:moveTo>
                <a:lnTo>
                  <a:pt x="54173" y="39588"/>
                </a:lnTo>
                <a:cubicBezTo>
                  <a:pt x="54173" y="43052"/>
                  <a:pt x="56960" y="45839"/>
                  <a:pt x="60424" y="45839"/>
                </a:cubicBezTo>
                <a:lnTo>
                  <a:pt x="84776" y="45839"/>
                </a:lnTo>
                <a:lnTo>
                  <a:pt x="54173" y="15236"/>
                </a:lnTo>
                <a:close/>
                <a:moveTo>
                  <a:pt x="40161" y="76989"/>
                </a:moveTo>
                <a:cubicBezTo>
                  <a:pt x="42401" y="74358"/>
                  <a:pt x="42115" y="70425"/>
                  <a:pt x="39484" y="68186"/>
                </a:cubicBezTo>
                <a:cubicBezTo>
                  <a:pt x="36854" y="65946"/>
                  <a:pt x="32921" y="66232"/>
                  <a:pt x="30681" y="68863"/>
                </a:cubicBezTo>
                <a:lnTo>
                  <a:pt x="18179" y="83448"/>
                </a:lnTo>
                <a:cubicBezTo>
                  <a:pt x="16174" y="85792"/>
                  <a:pt x="16174" y="89230"/>
                  <a:pt x="18179" y="91574"/>
                </a:cubicBezTo>
                <a:lnTo>
                  <a:pt x="30681" y="106159"/>
                </a:lnTo>
                <a:cubicBezTo>
                  <a:pt x="32921" y="108790"/>
                  <a:pt x="36880" y="109076"/>
                  <a:pt x="39484" y="106836"/>
                </a:cubicBezTo>
                <a:cubicBezTo>
                  <a:pt x="42089" y="104596"/>
                  <a:pt x="42401" y="100638"/>
                  <a:pt x="40161" y="98033"/>
                </a:cubicBezTo>
                <a:lnTo>
                  <a:pt x="31150" y="87511"/>
                </a:lnTo>
                <a:lnTo>
                  <a:pt x="40161" y="76989"/>
                </a:lnTo>
                <a:close/>
                <a:moveTo>
                  <a:pt x="69332" y="68863"/>
                </a:moveTo>
                <a:cubicBezTo>
                  <a:pt x="67092" y="66232"/>
                  <a:pt x="63133" y="65946"/>
                  <a:pt x="60528" y="68186"/>
                </a:cubicBezTo>
                <a:cubicBezTo>
                  <a:pt x="57924" y="70425"/>
                  <a:pt x="57611" y="74384"/>
                  <a:pt x="59851" y="76989"/>
                </a:cubicBezTo>
                <a:lnTo>
                  <a:pt x="68863" y="87511"/>
                </a:lnTo>
                <a:lnTo>
                  <a:pt x="59851" y="98033"/>
                </a:lnTo>
                <a:cubicBezTo>
                  <a:pt x="57611" y="100664"/>
                  <a:pt x="57898" y="104596"/>
                  <a:pt x="60528" y="106836"/>
                </a:cubicBezTo>
                <a:cubicBezTo>
                  <a:pt x="63159" y="109076"/>
                  <a:pt x="67092" y="108790"/>
                  <a:pt x="69332" y="106159"/>
                </a:cubicBezTo>
                <a:lnTo>
                  <a:pt x="81833" y="91574"/>
                </a:lnTo>
                <a:cubicBezTo>
                  <a:pt x="83839" y="89230"/>
                  <a:pt x="83839" y="85792"/>
                  <a:pt x="81833" y="83448"/>
                </a:cubicBezTo>
                <a:lnTo>
                  <a:pt x="69332" y="68863"/>
                </a:ln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29281" y="359283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Metadata Configuration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79120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51523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50620" y="4427223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Load Balancer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9120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External HTTPS Load Balancer with a backend bucket pointing to the Cloud Storage bucket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9120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06504" y="61112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07720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Balancer Setup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45531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439841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FF6467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13553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11341" y="4427223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Cloud CDN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39841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Cloud CDN on the backend bucket to cache content at Google's global edge locations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39841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4467225" y="6111241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668441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CDN Activation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06371" y="4137660"/>
            <a:ext cx="3703320" cy="2331720"/>
          </a:xfrm>
          <a:custGeom>
            <a:avLst/>
            <a:gdLst/>
            <a:ahLst/>
            <a:cxnLst/>
            <a:rect l="l" t="t" r="r" b="b"/>
            <a:pathLst>
              <a:path w="3703320" h="2331720">
                <a:moveTo>
                  <a:pt x="152401" y="0"/>
                </a:moveTo>
                <a:lnTo>
                  <a:pt x="3550919" y="0"/>
                </a:lnTo>
                <a:cubicBezTo>
                  <a:pt x="3635088" y="0"/>
                  <a:pt x="3703320" y="68232"/>
                  <a:pt x="3703320" y="152401"/>
                </a:cubicBezTo>
                <a:lnTo>
                  <a:pt x="3703320" y="2179319"/>
                </a:lnTo>
                <a:cubicBezTo>
                  <a:pt x="3703320" y="2263431"/>
                  <a:pt x="3635031" y="2331720"/>
                  <a:pt x="3550919" y="2331720"/>
                </a:cubicBezTo>
                <a:lnTo>
                  <a:pt x="152401" y="2331720"/>
                </a:lnTo>
                <a:cubicBezTo>
                  <a:pt x="68232" y="2331720"/>
                  <a:pt x="0" y="2263488"/>
                  <a:pt x="0" y="21793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300681" y="433197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BBA7"/>
              </a:gs>
              <a:gs pos="100000">
                <a:srgbClr val="00D5BE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8472250" y="4427223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72181" y="4427223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 Domain + SSL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00681" y="4941573"/>
            <a:ext cx="3390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custom domain DNS to point to the load balancer and provision a managed SSL certificate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00681" y="5932169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8336399" y="6111241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33337" y="25003"/>
                </a:moveTo>
                <a:lnTo>
                  <a:pt x="33337" y="41672"/>
                </a:lnTo>
                <a:lnTo>
                  <a:pt x="66675" y="41672"/>
                </a:lnTo>
                <a:lnTo>
                  <a:pt x="66675" y="25003"/>
                </a:lnTo>
                <a:cubicBezTo>
                  <a:pt x="66675" y="15809"/>
                  <a:pt x="59200" y="8334"/>
                  <a:pt x="50006" y="8334"/>
                </a:cubicBezTo>
                <a:cubicBezTo>
                  <a:pt x="40812" y="8334"/>
                  <a:pt x="33337" y="15809"/>
                  <a:pt x="33337" y="25003"/>
                </a:cubicBezTo>
                <a:close/>
                <a:moveTo>
                  <a:pt x="16669" y="41672"/>
                </a:moveTo>
                <a:lnTo>
                  <a:pt x="16669" y="25003"/>
                </a:lnTo>
                <a:cubicBezTo>
                  <a:pt x="16669" y="6589"/>
                  <a:pt x="31592" y="-8334"/>
                  <a:pt x="50006" y="-8334"/>
                </a:cubicBezTo>
                <a:cubicBezTo>
                  <a:pt x="68420" y="-8334"/>
                  <a:pt x="83344" y="6589"/>
                  <a:pt x="83344" y="25003"/>
                </a:cubicBezTo>
                <a:lnTo>
                  <a:pt x="83344" y="41672"/>
                </a:lnTo>
                <a:cubicBezTo>
                  <a:pt x="92538" y="41672"/>
                  <a:pt x="100013" y="49147"/>
                  <a:pt x="100013" y="58341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58341"/>
                </a:lnTo>
                <a:cubicBezTo>
                  <a:pt x="0" y="49147"/>
                  <a:pt x="7475" y="41672"/>
                  <a:pt x="16669" y="41672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529281" y="6088382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Configuration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Caching Strategy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Differentiated TTL approach for maximum performance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5589270" cy="3055620"/>
          </a:xfrm>
          <a:custGeom>
            <a:avLst/>
            <a:gdLst/>
            <a:ahLst/>
            <a:cxnLst/>
            <a:rect l="l" t="t" r="r" b="b"/>
            <a:pathLst>
              <a:path w="5589270" h="3055620">
                <a:moveTo>
                  <a:pt x="228591" y="0"/>
                </a:moveTo>
                <a:lnTo>
                  <a:pt x="5360679" y="0"/>
                </a:lnTo>
                <a:cubicBezTo>
                  <a:pt x="5486926" y="0"/>
                  <a:pt x="5589270" y="102344"/>
                  <a:pt x="5589270" y="228591"/>
                </a:cubicBezTo>
                <a:lnTo>
                  <a:pt x="5589270" y="2827029"/>
                </a:lnTo>
                <a:cubicBezTo>
                  <a:pt x="5589270" y="2953276"/>
                  <a:pt x="5486926" y="3055620"/>
                  <a:pt x="5360679" y="3055620"/>
                </a:cubicBezTo>
                <a:lnTo>
                  <a:pt x="228591" y="3055620"/>
                </a:lnTo>
                <a:cubicBezTo>
                  <a:pt x="102344" y="3055620"/>
                  <a:pt x="0" y="2953276"/>
                  <a:pt x="0" y="2827029"/>
                </a:cubicBezTo>
                <a:lnTo>
                  <a:pt x="0" y="228591"/>
                </a:lnTo>
                <a:cubicBezTo>
                  <a:pt x="0" y="102344"/>
                  <a:pt x="102344" y="0"/>
                  <a:pt x="22859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7220" y="18745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F8904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8195" y="202692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03020" y="1874523"/>
            <a:ext cx="1266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 Files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3020" y="2179202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Dynamic Content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598423"/>
            <a:ext cx="5124450" cy="876300"/>
          </a:xfrm>
          <a:custGeom>
            <a:avLst/>
            <a:gdLst/>
            <a:ahLst/>
            <a:cxnLst/>
            <a:rect l="l" t="t" r="r" b="b"/>
            <a:pathLst>
              <a:path w="5124450" h="876300">
                <a:moveTo>
                  <a:pt x="152397" y="0"/>
                </a:moveTo>
                <a:lnTo>
                  <a:pt x="4972053" y="0"/>
                </a:lnTo>
                <a:cubicBezTo>
                  <a:pt x="5056219" y="0"/>
                  <a:pt x="5124450" y="68231"/>
                  <a:pt x="5124450" y="152397"/>
                </a:cubicBezTo>
                <a:lnTo>
                  <a:pt x="5124450" y="723903"/>
                </a:lnTo>
                <a:cubicBezTo>
                  <a:pt x="5124450" y="808069"/>
                  <a:pt x="5056219" y="876300"/>
                  <a:pt x="497205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69620" y="2769873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Setting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54084" y="2750823"/>
            <a:ext cx="542925" cy="266700"/>
          </a:xfrm>
          <a:custGeom>
            <a:avLst/>
            <a:gdLst/>
            <a:ahLst/>
            <a:cxnLst/>
            <a:rect l="l" t="t" r="r" b="b"/>
            <a:pathLst>
              <a:path w="542925" h="266700">
                <a:moveTo>
                  <a:pt x="133350" y="0"/>
                </a:moveTo>
                <a:lnTo>
                  <a:pt x="409575" y="0"/>
                </a:lnTo>
                <a:cubicBezTo>
                  <a:pt x="483173" y="0"/>
                  <a:pt x="542925" y="59752"/>
                  <a:pt x="542925" y="133350"/>
                </a:cubicBezTo>
                <a:lnTo>
                  <a:pt x="542925" y="133350"/>
                </a:lnTo>
                <a:cubicBezTo>
                  <a:pt x="542925" y="206948"/>
                  <a:pt x="483173" y="266700"/>
                  <a:pt x="4095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54084" y="2750823"/>
            <a:ext cx="6096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9620" y="3093723"/>
            <a:ext cx="489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5-15 minutes recommended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7220" y="3627123"/>
            <a:ext cx="5200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HTML changes frequently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content updates, so shorter TTL ensures users see fresh content quickly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6270" y="429387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F54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83920" y="4274823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4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more frequent invalidation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638300"/>
            <a:ext cx="5600700" cy="3067050"/>
          </a:xfrm>
          <a:custGeom>
            <a:avLst/>
            <a:gdLst/>
            <a:ahLst/>
            <a:cxnLst/>
            <a:rect l="l" t="t" r="r" b="b"/>
            <a:pathLst>
              <a:path w="5600700" h="3067050">
                <a:moveTo>
                  <a:pt x="228587" y="0"/>
                </a:moveTo>
                <a:lnTo>
                  <a:pt x="5372113" y="0"/>
                </a:lnTo>
                <a:cubicBezTo>
                  <a:pt x="5498358" y="0"/>
                  <a:pt x="5600700" y="102342"/>
                  <a:pt x="5600700" y="228587"/>
                </a:cubicBezTo>
                <a:lnTo>
                  <a:pt x="5600700" y="2838463"/>
                </a:lnTo>
                <a:cubicBezTo>
                  <a:pt x="5600700" y="2964708"/>
                  <a:pt x="5498358" y="3067050"/>
                  <a:pt x="5372113" y="3067050"/>
                </a:cubicBezTo>
                <a:lnTo>
                  <a:pt x="228587" y="3067050"/>
                </a:lnTo>
                <a:cubicBezTo>
                  <a:pt x="102342" y="3067050"/>
                  <a:pt x="0" y="2964708"/>
                  <a:pt x="0" y="2838463"/>
                </a:cubicBezTo>
                <a:lnTo>
                  <a:pt x="0" y="228587"/>
                </a:lnTo>
                <a:cubicBezTo>
                  <a:pt x="0" y="102427"/>
                  <a:pt x="102427" y="0"/>
                  <a:pt x="228587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38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770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42863"/>
                </a:moveTo>
                <a:cubicBezTo>
                  <a:pt x="42863" y="27102"/>
                  <a:pt x="55677" y="14288"/>
                  <a:pt x="71438" y="14288"/>
                </a:cubicBezTo>
                <a:lnTo>
                  <a:pt x="214313" y="14288"/>
                </a:lnTo>
                <a:cubicBezTo>
                  <a:pt x="230073" y="14288"/>
                  <a:pt x="242888" y="27102"/>
                  <a:pt x="242888" y="42863"/>
                </a:cubicBezTo>
                <a:lnTo>
                  <a:pt x="242888" y="157163"/>
                </a:lnTo>
                <a:cubicBezTo>
                  <a:pt x="242888" y="172923"/>
                  <a:pt x="230073" y="185738"/>
                  <a:pt x="214313" y="185738"/>
                </a:cubicBezTo>
                <a:lnTo>
                  <a:pt x="71438" y="185738"/>
                </a:lnTo>
                <a:cubicBezTo>
                  <a:pt x="55677" y="185738"/>
                  <a:pt x="42863" y="172923"/>
                  <a:pt x="42863" y="157163"/>
                </a:cubicBezTo>
                <a:lnTo>
                  <a:pt x="42863" y="42863"/>
                </a:lnTo>
                <a:close/>
                <a:moveTo>
                  <a:pt x="10716" y="57150"/>
                </a:moveTo>
                <a:cubicBezTo>
                  <a:pt x="16654" y="57150"/>
                  <a:pt x="21431" y="61927"/>
                  <a:pt x="21431" y="67866"/>
                </a:cubicBezTo>
                <a:lnTo>
                  <a:pt x="21431" y="200025"/>
                </a:lnTo>
                <a:cubicBezTo>
                  <a:pt x="21431" y="203954"/>
                  <a:pt x="24646" y="207169"/>
                  <a:pt x="28575" y="207169"/>
                </a:cubicBezTo>
                <a:lnTo>
                  <a:pt x="189309" y="207169"/>
                </a:lnTo>
                <a:cubicBezTo>
                  <a:pt x="195248" y="207169"/>
                  <a:pt x="200025" y="211946"/>
                  <a:pt x="200025" y="217884"/>
                </a:cubicBezTo>
                <a:cubicBezTo>
                  <a:pt x="200025" y="223823"/>
                  <a:pt x="195248" y="228600"/>
                  <a:pt x="189309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67866"/>
                </a:lnTo>
                <a:cubicBezTo>
                  <a:pt x="0" y="61927"/>
                  <a:pt x="4777" y="57150"/>
                  <a:pt x="10716" y="57150"/>
                </a:cubicBezTo>
                <a:close/>
                <a:moveTo>
                  <a:pt x="85725" y="71438"/>
                </a:moveTo>
                <a:cubicBezTo>
                  <a:pt x="93610" y="71438"/>
                  <a:pt x="100013" y="65035"/>
                  <a:pt x="100013" y="57150"/>
                </a:cubicBezTo>
                <a:cubicBezTo>
                  <a:pt x="100013" y="49265"/>
                  <a:pt x="93610" y="42863"/>
                  <a:pt x="85725" y="42863"/>
                </a:cubicBezTo>
                <a:cubicBezTo>
                  <a:pt x="77840" y="42863"/>
                  <a:pt x="71438" y="49265"/>
                  <a:pt x="71438" y="57150"/>
                </a:cubicBezTo>
                <a:cubicBezTo>
                  <a:pt x="71438" y="65035"/>
                  <a:pt x="77840" y="71438"/>
                  <a:pt x="85725" y="71438"/>
                </a:cubicBezTo>
                <a:close/>
                <a:moveTo>
                  <a:pt x="173459" y="76572"/>
                </a:moveTo>
                <a:cubicBezTo>
                  <a:pt x="171495" y="73402"/>
                  <a:pt x="168057" y="71438"/>
                  <a:pt x="164306" y="71438"/>
                </a:cubicBezTo>
                <a:cubicBezTo>
                  <a:pt x="160556" y="71438"/>
                  <a:pt x="157118" y="73402"/>
                  <a:pt x="155153" y="76572"/>
                </a:cubicBezTo>
                <a:lnTo>
                  <a:pt x="130016" y="117693"/>
                </a:lnTo>
                <a:lnTo>
                  <a:pt x="119077" y="104031"/>
                </a:lnTo>
                <a:cubicBezTo>
                  <a:pt x="117024" y="101486"/>
                  <a:pt x="113987" y="100013"/>
                  <a:pt x="110728" y="100013"/>
                </a:cubicBezTo>
                <a:cubicBezTo>
                  <a:pt x="107469" y="100013"/>
                  <a:pt x="104388" y="101486"/>
                  <a:pt x="102379" y="104031"/>
                </a:cubicBezTo>
                <a:lnTo>
                  <a:pt x="73804" y="139750"/>
                </a:lnTo>
                <a:cubicBezTo>
                  <a:pt x="71214" y="142964"/>
                  <a:pt x="70723" y="147384"/>
                  <a:pt x="72509" y="151090"/>
                </a:cubicBezTo>
                <a:cubicBezTo>
                  <a:pt x="74295" y="154796"/>
                  <a:pt x="78045" y="157163"/>
                  <a:pt x="82153" y="157163"/>
                </a:cubicBezTo>
                <a:lnTo>
                  <a:pt x="203597" y="157163"/>
                </a:lnTo>
                <a:cubicBezTo>
                  <a:pt x="207481" y="157163"/>
                  <a:pt x="211053" y="155064"/>
                  <a:pt x="212928" y="151671"/>
                </a:cubicBezTo>
                <a:cubicBezTo>
                  <a:pt x="214804" y="148277"/>
                  <a:pt x="214759" y="144170"/>
                  <a:pt x="212705" y="140821"/>
                </a:cubicBezTo>
                <a:lnTo>
                  <a:pt x="173415" y="7652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24700" y="1866900"/>
            <a:ext cx="1438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Assets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24700" y="2171584"/>
            <a:ext cx="1400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CSS / JS / Images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38900" y="2590800"/>
            <a:ext cx="5143500" cy="876300"/>
          </a:xfrm>
          <a:custGeom>
            <a:avLst/>
            <a:gdLst/>
            <a:ahLst/>
            <a:cxnLst/>
            <a:rect l="l" t="t" r="r" b="b"/>
            <a:pathLst>
              <a:path w="5143500" h="876300">
                <a:moveTo>
                  <a:pt x="152397" y="0"/>
                </a:moveTo>
                <a:lnTo>
                  <a:pt x="4991103" y="0"/>
                </a:lnTo>
                <a:cubicBezTo>
                  <a:pt x="5075269" y="0"/>
                  <a:pt x="5143500" y="68231"/>
                  <a:pt x="5143500" y="152397"/>
                </a:cubicBezTo>
                <a:lnTo>
                  <a:pt x="5143500" y="723903"/>
                </a:lnTo>
                <a:cubicBezTo>
                  <a:pt x="5143500" y="808069"/>
                  <a:pt x="5075269" y="876300"/>
                  <a:pt x="4991103" y="876300"/>
                </a:cubicBezTo>
                <a:lnTo>
                  <a:pt x="152397" y="876300"/>
                </a:lnTo>
                <a:cubicBezTo>
                  <a:pt x="68231" y="876300"/>
                  <a:pt x="0" y="808069"/>
                  <a:pt x="0" y="723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591300" y="276225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TTL Setting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21365" y="2743200"/>
            <a:ext cx="504825" cy="266700"/>
          </a:xfrm>
          <a:custGeom>
            <a:avLst/>
            <a:gdLst/>
            <a:ahLst/>
            <a:cxnLst/>
            <a:rect l="l" t="t" r="r" b="b"/>
            <a:pathLst>
              <a:path w="504825" h="266700">
                <a:moveTo>
                  <a:pt x="133350" y="0"/>
                </a:moveTo>
                <a:lnTo>
                  <a:pt x="371475" y="0"/>
                </a:lnTo>
                <a:cubicBezTo>
                  <a:pt x="445073" y="0"/>
                  <a:pt x="504825" y="59752"/>
                  <a:pt x="504825" y="133350"/>
                </a:cubicBezTo>
                <a:lnTo>
                  <a:pt x="504825" y="133350"/>
                </a:lnTo>
                <a:cubicBezTo>
                  <a:pt x="504825" y="206948"/>
                  <a:pt x="445073" y="266700"/>
                  <a:pt x="3714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921365" y="2743200"/>
            <a:ext cx="571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71E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91300" y="308610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year (365 days) recommended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38900" y="3619500"/>
            <a:ext cx="52197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aggressively</a:t>
            </a: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since these files rarely change. Versioned filenames enable safe long-term caching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57950" y="42862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05600" y="426720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cache hit ratio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4810" y="4857751"/>
            <a:ext cx="11418570" cy="1703070"/>
          </a:xfrm>
          <a:custGeom>
            <a:avLst/>
            <a:gdLst/>
            <a:ahLst/>
            <a:cxnLst/>
            <a:rect l="l" t="t" r="r" b="b"/>
            <a:pathLst>
              <a:path w="11418570" h="1703070">
                <a:moveTo>
                  <a:pt x="152408" y="0"/>
                </a:moveTo>
                <a:lnTo>
                  <a:pt x="11266162" y="0"/>
                </a:lnTo>
                <a:cubicBezTo>
                  <a:pt x="11350335" y="0"/>
                  <a:pt x="11418570" y="68235"/>
                  <a:pt x="11418570" y="152408"/>
                </a:cubicBezTo>
                <a:lnTo>
                  <a:pt x="11418570" y="1550662"/>
                </a:lnTo>
                <a:cubicBezTo>
                  <a:pt x="11418570" y="1634835"/>
                  <a:pt x="11350335" y="1703070"/>
                  <a:pt x="11266162" y="1703070"/>
                </a:cubicBezTo>
                <a:lnTo>
                  <a:pt x="152408" y="1703070"/>
                </a:lnTo>
                <a:cubicBezTo>
                  <a:pt x="68235" y="1703070"/>
                  <a:pt x="0" y="1634835"/>
                  <a:pt x="0" y="15506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579120" y="505205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36283" y="5185409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188720" y="5147309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79120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75561" y="5785484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0836" y="27087"/>
                </a:moveTo>
                <a:cubicBezTo>
                  <a:pt x="24286" y="27087"/>
                  <a:pt x="27087" y="24286"/>
                  <a:pt x="27087" y="20836"/>
                </a:cubicBezTo>
                <a:cubicBezTo>
                  <a:pt x="27087" y="17386"/>
                  <a:pt x="24286" y="14585"/>
                  <a:pt x="20836" y="14585"/>
                </a:cubicBezTo>
                <a:cubicBezTo>
                  <a:pt x="17386" y="14585"/>
                  <a:pt x="14585" y="17386"/>
                  <a:pt x="14585" y="20836"/>
                </a:cubicBezTo>
                <a:cubicBezTo>
                  <a:pt x="14585" y="24286"/>
                  <a:pt x="17386" y="27087"/>
                  <a:pt x="20836" y="27087"/>
                </a:cubicBezTo>
                <a:close/>
                <a:moveTo>
                  <a:pt x="41672" y="20836"/>
                </a:moveTo>
                <a:cubicBezTo>
                  <a:pt x="41672" y="29379"/>
                  <a:pt x="36541" y="36723"/>
                  <a:pt x="29170" y="39927"/>
                </a:cubicBezTo>
                <a:lnTo>
                  <a:pt x="29170" y="58341"/>
                </a:lnTo>
                <a:lnTo>
                  <a:pt x="75009" y="58341"/>
                </a:lnTo>
                <a:cubicBezTo>
                  <a:pt x="81911" y="58341"/>
                  <a:pt x="87511" y="52741"/>
                  <a:pt x="87511" y="45839"/>
                </a:cubicBezTo>
                <a:lnTo>
                  <a:pt x="87511" y="39927"/>
                </a:lnTo>
                <a:cubicBezTo>
                  <a:pt x="80140" y="36723"/>
                  <a:pt x="75009" y="29379"/>
                  <a:pt x="75009" y="20836"/>
                </a:cubicBezTo>
                <a:cubicBezTo>
                  <a:pt x="75009" y="9324"/>
                  <a:pt x="84333" y="0"/>
                  <a:pt x="95845" y="0"/>
                </a:cubicBezTo>
                <a:cubicBezTo>
                  <a:pt x="107357" y="0"/>
                  <a:pt x="116681" y="9324"/>
                  <a:pt x="116681" y="20836"/>
                </a:cubicBezTo>
                <a:cubicBezTo>
                  <a:pt x="116681" y="29379"/>
                  <a:pt x="111550" y="36723"/>
                  <a:pt x="104180" y="39927"/>
                </a:cubicBezTo>
                <a:lnTo>
                  <a:pt x="104180" y="45839"/>
                </a:lnTo>
                <a:cubicBezTo>
                  <a:pt x="104180" y="61961"/>
                  <a:pt x="91131" y="75009"/>
                  <a:pt x="75009" y="75009"/>
                </a:cubicBezTo>
                <a:lnTo>
                  <a:pt x="29170" y="75009"/>
                </a:lnTo>
                <a:lnTo>
                  <a:pt x="29170" y="93423"/>
                </a:lnTo>
                <a:cubicBezTo>
                  <a:pt x="36541" y="96627"/>
                  <a:pt x="41672" y="103971"/>
                  <a:pt x="41672" y="112514"/>
                </a:cubicBezTo>
                <a:cubicBezTo>
                  <a:pt x="41672" y="124026"/>
                  <a:pt x="32348" y="133350"/>
                  <a:pt x="20836" y="133350"/>
                </a:cubicBezTo>
                <a:cubicBezTo>
                  <a:pt x="9324" y="133350"/>
                  <a:pt x="0" y="124026"/>
                  <a:pt x="0" y="112514"/>
                </a:cubicBezTo>
                <a:cubicBezTo>
                  <a:pt x="0" y="103971"/>
                  <a:pt x="5131" y="96627"/>
                  <a:pt x="12502" y="93423"/>
                </a:cubicBezTo>
                <a:lnTo>
                  <a:pt x="12502" y="39953"/>
                </a:lnTo>
                <a:cubicBezTo>
                  <a:pt x="5131" y="36723"/>
                  <a:pt x="0" y="29379"/>
                  <a:pt x="0" y="20836"/>
                </a:cubicBezTo>
                <a:cubicBezTo>
                  <a:pt x="0" y="9324"/>
                  <a:pt x="9324" y="0"/>
                  <a:pt x="20836" y="0"/>
                </a:cubicBezTo>
                <a:cubicBezTo>
                  <a:pt x="32348" y="0"/>
                  <a:pt x="41672" y="9324"/>
                  <a:pt x="41672" y="20836"/>
                </a:cubicBezTo>
                <a:close/>
                <a:moveTo>
                  <a:pt x="102096" y="20836"/>
                </a:moveTo>
                <a:cubicBezTo>
                  <a:pt x="102096" y="17386"/>
                  <a:pt x="99295" y="14585"/>
                  <a:pt x="95845" y="14585"/>
                </a:cubicBezTo>
                <a:cubicBezTo>
                  <a:pt x="92395" y="14585"/>
                  <a:pt x="89595" y="17386"/>
                  <a:pt x="89595" y="20836"/>
                </a:cubicBezTo>
                <a:cubicBezTo>
                  <a:pt x="89595" y="24286"/>
                  <a:pt x="92395" y="27087"/>
                  <a:pt x="95845" y="27087"/>
                </a:cubicBezTo>
                <a:cubicBezTo>
                  <a:pt x="99295" y="27087"/>
                  <a:pt x="102096" y="24286"/>
                  <a:pt x="102096" y="20836"/>
                </a:cubicBezTo>
                <a:close/>
                <a:moveTo>
                  <a:pt x="20836" y="118765"/>
                </a:moveTo>
                <a:cubicBezTo>
                  <a:pt x="24286" y="118765"/>
                  <a:pt x="27087" y="115964"/>
                  <a:pt x="27087" y="112514"/>
                </a:cubicBezTo>
                <a:cubicBezTo>
                  <a:pt x="27087" y="109064"/>
                  <a:pt x="24286" y="106263"/>
                  <a:pt x="20836" y="106263"/>
                </a:cubicBezTo>
                <a:cubicBezTo>
                  <a:pt x="17386" y="106263"/>
                  <a:pt x="14585" y="109064"/>
                  <a:pt x="14585" y="112514"/>
                </a:cubicBezTo>
                <a:cubicBezTo>
                  <a:pt x="14585" y="115964"/>
                  <a:pt x="17386" y="118765"/>
                  <a:pt x="20836" y="118765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998220" y="5661659"/>
            <a:ext cx="3228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Asset Versioning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98220" y="5928359"/>
            <a:ext cx="3219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versioned filenames (style.v1.css) for cache-busting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07800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387572" y="5785484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147571" y="14221"/>
                </a:moveTo>
                <a:cubicBezTo>
                  <a:pt x="150826" y="10965"/>
                  <a:pt x="150826" y="5678"/>
                  <a:pt x="147571" y="2422"/>
                </a:cubicBezTo>
                <a:cubicBezTo>
                  <a:pt x="144315" y="-833"/>
                  <a:pt x="139028" y="-833"/>
                  <a:pt x="135772" y="2422"/>
                </a:cubicBezTo>
                <a:lnTo>
                  <a:pt x="85766" y="52428"/>
                </a:lnTo>
                <a:lnTo>
                  <a:pt x="76728" y="43391"/>
                </a:lnTo>
                <a:cubicBezTo>
                  <a:pt x="75634" y="42297"/>
                  <a:pt x="74124" y="41672"/>
                  <a:pt x="72561" y="41672"/>
                </a:cubicBezTo>
                <a:cubicBezTo>
                  <a:pt x="69306" y="41672"/>
                  <a:pt x="66675" y="44302"/>
                  <a:pt x="66675" y="47558"/>
                </a:cubicBezTo>
                <a:lnTo>
                  <a:pt x="66675" y="55137"/>
                </a:lnTo>
                <a:lnTo>
                  <a:pt x="94882" y="83344"/>
                </a:lnTo>
                <a:lnTo>
                  <a:pt x="102461" y="83344"/>
                </a:lnTo>
                <a:cubicBezTo>
                  <a:pt x="105716" y="83344"/>
                  <a:pt x="108347" y="80713"/>
                  <a:pt x="108347" y="77458"/>
                </a:cubicBezTo>
                <a:cubicBezTo>
                  <a:pt x="108347" y="75895"/>
                  <a:pt x="107722" y="74384"/>
                  <a:pt x="106628" y="73290"/>
                </a:cubicBezTo>
                <a:lnTo>
                  <a:pt x="97590" y="64253"/>
                </a:lnTo>
                <a:lnTo>
                  <a:pt x="147597" y="14247"/>
                </a:lnTo>
                <a:close/>
                <a:moveTo>
                  <a:pt x="88839" y="92043"/>
                </a:moveTo>
                <a:lnTo>
                  <a:pt x="57976" y="61180"/>
                </a:lnTo>
                <a:cubicBezTo>
                  <a:pt x="46855" y="60216"/>
                  <a:pt x="35786" y="64227"/>
                  <a:pt x="27816" y="72197"/>
                </a:cubicBezTo>
                <a:lnTo>
                  <a:pt x="25732" y="74280"/>
                </a:lnTo>
                <a:cubicBezTo>
                  <a:pt x="19924" y="80088"/>
                  <a:pt x="16669" y="87954"/>
                  <a:pt x="16669" y="96158"/>
                </a:cubicBezTo>
                <a:cubicBezTo>
                  <a:pt x="16669" y="97929"/>
                  <a:pt x="18518" y="99075"/>
                  <a:pt x="20107" y="98294"/>
                </a:cubicBezTo>
                <a:lnTo>
                  <a:pt x="33416" y="91652"/>
                </a:lnTo>
                <a:cubicBezTo>
                  <a:pt x="34718" y="91001"/>
                  <a:pt x="35890" y="92720"/>
                  <a:pt x="34822" y="93710"/>
                </a:cubicBezTo>
                <a:lnTo>
                  <a:pt x="1901" y="123297"/>
                </a:lnTo>
                <a:cubicBezTo>
                  <a:pt x="703" y="124391"/>
                  <a:pt x="0" y="125953"/>
                  <a:pt x="0" y="127594"/>
                </a:cubicBezTo>
                <a:cubicBezTo>
                  <a:pt x="0" y="130772"/>
                  <a:pt x="2578" y="133350"/>
                  <a:pt x="5756" y="133350"/>
                </a:cubicBezTo>
                <a:lnTo>
                  <a:pt x="50892" y="133350"/>
                </a:lnTo>
                <a:cubicBezTo>
                  <a:pt x="60997" y="133350"/>
                  <a:pt x="70660" y="129339"/>
                  <a:pt x="77822" y="122203"/>
                </a:cubicBezTo>
                <a:cubicBezTo>
                  <a:pt x="85792" y="114233"/>
                  <a:pt x="89777" y="103164"/>
                  <a:pt x="88839" y="92043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726900" y="5661659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Invalidation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726900" y="5928359"/>
            <a:ext cx="31623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Invalidate only when necessary, mostly for HTML files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036481" y="56997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8124587" y="5785484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455581" y="5661659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Hit Ratio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55581" y="5928359"/>
            <a:ext cx="26098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cache hit ratio to optimize TTL settings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+ Observability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Ensuring secure delivery and comprehensive monitoring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5589270" cy="4922520"/>
          </a:xfrm>
          <a:custGeom>
            <a:avLst/>
            <a:gdLst/>
            <a:ahLst/>
            <a:cxnLst/>
            <a:rect l="l" t="t" r="r" b="b"/>
            <a:pathLst>
              <a:path w="5589270" h="4922520">
                <a:moveTo>
                  <a:pt x="228602" y="0"/>
                </a:moveTo>
                <a:lnTo>
                  <a:pt x="5360668" y="0"/>
                </a:lnTo>
                <a:cubicBezTo>
                  <a:pt x="5486921" y="0"/>
                  <a:pt x="5589270" y="102349"/>
                  <a:pt x="5589270" y="228602"/>
                </a:cubicBezTo>
                <a:lnTo>
                  <a:pt x="5589270" y="4693918"/>
                </a:lnTo>
                <a:cubicBezTo>
                  <a:pt x="5589270" y="4820171"/>
                  <a:pt x="5486921" y="4922520"/>
                  <a:pt x="5360668" y="4922520"/>
                </a:cubicBezTo>
                <a:lnTo>
                  <a:pt x="228602" y="4922520"/>
                </a:lnTo>
                <a:cubicBezTo>
                  <a:pt x="102349" y="4922520"/>
                  <a:pt x="0" y="4820171"/>
                  <a:pt x="0" y="4693918"/>
                </a:cubicBezTo>
                <a:lnTo>
                  <a:pt x="0" y="228602"/>
                </a:lnTo>
                <a:cubicBezTo>
                  <a:pt x="0" y="102433"/>
                  <a:pt x="102433" y="0"/>
                  <a:pt x="2286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17220" y="18745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69620" y="20269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303020" y="1988823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6270" y="25984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>
              <a:alpha val="5098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36270" y="25984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2964" y="2798448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136333" y="2750823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HTTPS End-to-End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7720" y="30937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content delivered securely through HTTPS via the load balancer, protecting data in transit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6270" y="38938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>
              <a:alpha val="5098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6270" y="38938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1533" y="409384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136333" y="4046223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Signed URLs (Optional)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7720" y="43891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time-limited, cryptographically signed URLs for private content access control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6270" y="5189223"/>
            <a:ext cx="5105400" cy="1143000"/>
          </a:xfrm>
          <a:custGeom>
            <a:avLst/>
            <a:gdLst/>
            <a:ahLst/>
            <a:cxnLst/>
            <a:rect l="l" t="t" r="r" b="b"/>
            <a:pathLst>
              <a:path w="5105400" h="1143000">
                <a:moveTo>
                  <a:pt x="38100" y="0"/>
                </a:moveTo>
                <a:lnTo>
                  <a:pt x="4953004" y="0"/>
                </a:lnTo>
                <a:cubicBezTo>
                  <a:pt x="5037170" y="0"/>
                  <a:pt x="5105400" y="68230"/>
                  <a:pt x="5105400" y="152396"/>
                </a:cubicBezTo>
                <a:lnTo>
                  <a:pt x="5105400" y="990604"/>
                </a:lnTo>
                <a:cubicBezTo>
                  <a:pt x="5105400" y="1074770"/>
                  <a:pt x="5037170" y="1143000"/>
                  <a:pt x="4953004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>
              <a:alpha val="5098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36270" y="51892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0817" y="5389248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80099" y="-2679"/>
                </a:moveTo>
                <a:cubicBezTo>
                  <a:pt x="78057" y="-4755"/>
                  <a:pt x="75076" y="-5592"/>
                  <a:pt x="72263" y="-4822"/>
                </a:cubicBezTo>
                <a:cubicBezTo>
                  <a:pt x="69451" y="-4052"/>
                  <a:pt x="67274" y="-1875"/>
                  <a:pt x="66571" y="938"/>
                </a:cubicBezTo>
                <a:lnTo>
                  <a:pt x="61447" y="21096"/>
                </a:lnTo>
                <a:cubicBezTo>
                  <a:pt x="61079" y="22570"/>
                  <a:pt x="59572" y="23440"/>
                  <a:pt x="58132" y="23005"/>
                </a:cubicBezTo>
                <a:lnTo>
                  <a:pt x="38107" y="17379"/>
                </a:lnTo>
                <a:cubicBezTo>
                  <a:pt x="35295" y="16576"/>
                  <a:pt x="32281" y="17379"/>
                  <a:pt x="30238" y="19422"/>
                </a:cubicBezTo>
                <a:cubicBezTo>
                  <a:pt x="28195" y="21465"/>
                  <a:pt x="27392" y="24479"/>
                  <a:pt x="28195" y="27291"/>
                </a:cubicBezTo>
                <a:lnTo>
                  <a:pt x="33855" y="47316"/>
                </a:lnTo>
                <a:cubicBezTo>
                  <a:pt x="34257" y="48756"/>
                  <a:pt x="33386" y="50263"/>
                  <a:pt x="31946" y="50631"/>
                </a:cubicBezTo>
                <a:lnTo>
                  <a:pt x="11754" y="55755"/>
                </a:lnTo>
                <a:cubicBezTo>
                  <a:pt x="8941" y="56458"/>
                  <a:pt x="6731" y="58668"/>
                  <a:pt x="5961" y="61481"/>
                </a:cubicBezTo>
                <a:cubicBezTo>
                  <a:pt x="5190" y="64294"/>
                  <a:pt x="6028" y="67274"/>
                  <a:pt x="8104" y="69317"/>
                </a:cubicBezTo>
                <a:lnTo>
                  <a:pt x="23005" y="83816"/>
                </a:lnTo>
                <a:cubicBezTo>
                  <a:pt x="24077" y="84854"/>
                  <a:pt x="24077" y="86596"/>
                  <a:pt x="23005" y="87667"/>
                </a:cubicBezTo>
                <a:lnTo>
                  <a:pt x="8137" y="102167"/>
                </a:lnTo>
                <a:cubicBezTo>
                  <a:pt x="6061" y="104209"/>
                  <a:pt x="5224" y="107190"/>
                  <a:pt x="5994" y="110003"/>
                </a:cubicBezTo>
                <a:cubicBezTo>
                  <a:pt x="6764" y="112815"/>
                  <a:pt x="8974" y="114992"/>
                  <a:pt x="11787" y="115729"/>
                </a:cubicBezTo>
                <a:lnTo>
                  <a:pt x="31946" y="120852"/>
                </a:lnTo>
                <a:cubicBezTo>
                  <a:pt x="33419" y="121221"/>
                  <a:pt x="34290" y="122727"/>
                  <a:pt x="33855" y="124167"/>
                </a:cubicBezTo>
                <a:lnTo>
                  <a:pt x="28195" y="144159"/>
                </a:lnTo>
                <a:cubicBezTo>
                  <a:pt x="27392" y="146971"/>
                  <a:pt x="28195" y="149985"/>
                  <a:pt x="30238" y="152028"/>
                </a:cubicBezTo>
                <a:cubicBezTo>
                  <a:pt x="32281" y="154071"/>
                  <a:pt x="35295" y="154874"/>
                  <a:pt x="38107" y="154071"/>
                </a:cubicBezTo>
                <a:lnTo>
                  <a:pt x="58132" y="148411"/>
                </a:lnTo>
                <a:cubicBezTo>
                  <a:pt x="59572" y="148010"/>
                  <a:pt x="61079" y="148880"/>
                  <a:pt x="61447" y="150320"/>
                </a:cubicBezTo>
                <a:lnTo>
                  <a:pt x="66571" y="170479"/>
                </a:lnTo>
                <a:cubicBezTo>
                  <a:pt x="67274" y="173292"/>
                  <a:pt x="69484" y="175502"/>
                  <a:pt x="72297" y="176272"/>
                </a:cubicBezTo>
                <a:cubicBezTo>
                  <a:pt x="75110" y="177042"/>
                  <a:pt x="78090" y="176205"/>
                  <a:pt x="80133" y="174129"/>
                </a:cubicBezTo>
                <a:lnTo>
                  <a:pt x="94632" y="159227"/>
                </a:lnTo>
                <a:cubicBezTo>
                  <a:pt x="95670" y="158156"/>
                  <a:pt x="97412" y="158156"/>
                  <a:pt x="98483" y="159227"/>
                </a:cubicBezTo>
                <a:lnTo>
                  <a:pt x="112949" y="174129"/>
                </a:lnTo>
                <a:cubicBezTo>
                  <a:pt x="114992" y="176205"/>
                  <a:pt x="117972" y="177042"/>
                  <a:pt x="120785" y="176272"/>
                </a:cubicBezTo>
                <a:cubicBezTo>
                  <a:pt x="123598" y="175502"/>
                  <a:pt x="125775" y="173292"/>
                  <a:pt x="126511" y="170479"/>
                </a:cubicBezTo>
                <a:lnTo>
                  <a:pt x="131635" y="150354"/>
                </a:lnTo>
                <a:cubicBezTo>
                  <a:pt x="132003" y="148880"/>
                  <a:pt x="133510" y="148010"/>
                  <a:pt x="134950" y="148445"/>
                </a:cubicBezTo>
                <a:lnTo>
                  <a:pt x="154975" y="154104"/>
                </a:lnTo>
                <a:cubicBezTo>
                  <a:pt x="157788" y="154908"/>
                  <a:pt x="160801" y="154104"/>
                  <a:pt x="162844" y="152061"/>
                </a:cubicBezTo>
                <a:cubicBezTo>
                  <a:pt x="164887" y="150019"/>
                  <a:pt x="165690" y="147005"/>
                  <a:pt x="164887" y="144192"/>
                </a:cubicBezTo>
                <a:lnTo>
                  <a:pt x="159227" y="124167"/>
                </a:lnTo>
                <a:cubicBezTo>
                  <a:pt x="158826" y="122727"/>
                  <a:pt x="159696" y="121221"/>
                  <a:pt x="161136" y="120852"/>
                </a:cubicBezTo>
                <a:lnTo>
                  <a:pt x="181295" y="115729"/>
                </a:lnTo>
                <a:cubicBezTo>
                  <a:pt x="184108" y="115026"/>
                  <a:pt x="186318" y="112815"/>
                  <a:pt x="187088" y="110003"/>
                </a:cubicBezTo>
                <a:cubicBezTo>
                  <a:pt x="187858" y="107190"/>
                  <a:pt x="187021" y="104176"/>
                  <a:pt x="184945" y="102167"/>
                </a:cubicBezTo>
                <a:lnTo>
                  <a:pt x="170044" y="87667"/>
                </a:lnTo>
                <a:cubicBezTo>
                  <a:pt x="168972" y="86629"/>
                  <a:pt x="168972" y="84888"/>
                  <a:pt x="170044" y="83816"/>
                </a:cubicBezTo>
                <a:lnTo>
                  <a:pt x="184945" y="69317"/>
                </a:lnTo>
                <a:cubicBezTo>
                  <a:pt x="187021" y="67274"/>
                  <a:pt x="187858" y="64294"/>
                  <a:pt x="187088" y="61481"/>
                </a:cubicBezTo>
                <a:cubicBezTo>
                  <a:pt x="186318" y="58668"/>
                  <a:pt x="184108" y="56491"/>
                  <a:pt x="181295" y="55755"/>
                </a:cubicBezTo>
                <a:lnTo>
                  <a:pt x="161136" y="50631"/>
                </a:lnTo>
                <a:cubicBezTo>
                  <a:pt x="159663" y="50263"/>
                  <a:pt x="158792" y="48756"/>
                  <a:pt x="159227" y="47316"/>
                </a:cubicBezTo>
                <a:lnTo>
                  <a:pt x="164887" y="27291"/>
                </a:lnTo>
                <a:cubicBezTo>
                  <a:pt x="165690" y="24479"/>
                  <a:pt x="164887" y="21465"/>
                  <a:pt x="162844" y="19422"/>
                </a:cubicBezTo>
                <a:cubicBezTo>
                  <a:pt x="160801" y="17379"/>
                  <a:pt x="157788" y="16576"/>
                  <a:pt x="154975" y="17379"/>
                </a:cubicBezTo>
                <a:lnTo>
                  <a:pt x="134950" y="23039"/>
                </a:lnTo>
                <a:cubicBezTo>
                  <a:pt x="133510" y="23440"/>
                  <a:pt x="132003" y="22570"/>
                  <a:pt x="131635" y="21130"/>
                </a:cubicBezTo>
                <a:lnTo>
                  <a:pt x="126511" y="938"/>
                </a:lnTo>
                <a:cubicBezTo>
                  <a:pt x="125808" y="-1875"/>
                  <a:pt x="123598" y="-4085"/>
                  <a:pt x="120785" y="-4856"/>
                </a:cubicBezTo>
                <a:cubicBezTo>
                  <a:pt x="117972" y="-5626"/>
                  <a:pt x="114992" y="-4789"/>
                  <a:pt x="112949" y="-2712"/>
                </a:cubicBezTo>
                <a:lnTo>
                  <a:pt x="98450" y="12223"/>
                </a:lnTo>
                <a:cubicBezTo>
                  <a:pt x="97412" y="13294"/>
                  <a:pt x="95670" y="13294"/>
                  <a:pt x="94599" y="12223"/>
                </a:cubicBezTo>
                <a:lnTo>
                  <a:pt x="80099" y="-2679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136333" y="5341623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Managed SSL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7720" y="5684523"/>
            <a:ext cx="4857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Google-managed SSL certificates automatically provisioned and renewed for custom domains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0300" y="1638300"/>
            <a:ext cx="5600700" cy="4933950"/>
          </a:xfrm>
          <a:custGeom>
            <a:avLst/>
            <a:gdLst/>
            <a:ahLst/>
            <a:cxnLst/>
            <a:rect l="l" t="t" r="r" b="b"/>
            <a:pathLst>
              <a:path w="5600700" h="4933950">
                <a:moveTo>
                  <a:pt x="228590" y="0"/>
                </a:moveTo>
                <a:lnTo>
                  <a:pt x="5372110" y="0"/>
                </a:lnTo>
                <a:cubicBezTo>
                  <a:pt x="5498357" y="0"/>
                  <a:pt x="5600700" y="102343"/>
                  <a:pt x="5600700" y="228590"/>
                </a:cubicBezTo>
                <a:lnTo>
                  <a:pt x="5600700" y="4705360"/>
                </a:lnTo>
                <a:cubicBezTo>
                  <a:pt x="5600700" y="4831607"/>
                  <a:pt x="5498357" y="4933950"/>
                  <a:pt x="5372110" y="4933950"/>
                </a:cubicBezTo>
                <a:lnTo>
                  <a:pt x="228590" y="4933950"/>
                </a:lnTo>
                <a:cubicBezTo>
                  <a:pt x="102343" y="4933950"/>
                  <a:pt x="0" y="4831607"/>
                  <a:pt x="0" y="4705360"/>
                </a:cubicBezTo>
                <a:lnTo>
                  <a:pt x="0" y="228590"/>
                </a:lnTo>
                <a:cubicBezTo>
                  <a:pt x="0" y="102428"/>
                  <a:pt x="102428" y="0"/>
                  <a:pt x="22859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438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59130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124700" y="19812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8900" y="25908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625828" y="279082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19913" y="2743200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 Ratio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1300" y="30861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the percentage of requests served from cache vs. origin to optimize performance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38900" y="38862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615113" y="40862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19913" y="4038600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 Metrics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91300" y="43815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response times from edge locations and origin to identify performance bottlenecks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38900" y="5181600"/>
            <a:ext cx="5143500" cy="1143000"/>
          </a:xfrm>
          <a:custGeom>
            <a:avLst/>
            <a:gdLst/>
            <a:ahLst/>
            <a:cxnLst/>
            <a:rect l="l" t="t" r="r" b="b"/>
            <a:pathLst>
              <a:path w="5143500" h="1143000">
                <a:moveTo>
                  <a:pt x="152396" y="0"/>
                </a:moveTo>
                <a:lnTo>
                  <a:pt x="4991104" y="0"/>
                </a:lnTo>
                <a:cubicBezTo>
                  <a:pt x="5075270" y="0"/>
                  <a:pt x="5143500" y="68230"/>
                  <a:pt x="5143500" y="152396"/>
                </a:cubicBezTo>
                <a:lnTo>
                  <a:pt x="5143500" y="990604"/>
                </a:lnTo>
                <a:cubicBezTo>
                  <a:pt x="5143500" y="1074770"/>
                  <a:pt x="5075270" y="1143000"/>
                  <a:pt x="4991104" y="1143000"/>
                </a:cubicBezTo>
                <a:lnTo>
                  <a:pt x="152396" y="1143000"/>
                </a:lnTo>
                <a:cubicBezTo>
                  <a:pt x="68230" y="1143000"/>
                  <a:pt x="0" y="1074770"/>
                  <a:pt x="0" y="990604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636544" y="53816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40184" y="85725"/>
                </a:moveTo>
                <a:cubicBezTo>
                  <a:pt x="35730" y="85725"/>
                  <a:pt x="32147" y="89308"/>
                  <a:pt x="32147" y="93762"/>
                </a:cubicBezTo>
                <a:cubicBezTo>
                  <a:pt x="32147" y="98215"/>
                  <a:pt x="35730" y="101798"/>
                  <a:pt x="40184" y="101798"/>
                </a:cubicBezTo>
                <a:lnTo>
                  <a:pt x="88404" y="101798"/>
                </a:lnTo>
                <a:cubicBezTo>
                  <a:pt x="92858" y="101798"/>
                  <a:pt x="96441" y="98215"/>
                  <a:pt x="96441" y="93762"/>
                </a:cubicBezTo>
                <a:cubicBezTo>
                  <a:pt x="96441" y="89308"/>
                  <a:pt x="92858" y="85725"/>
                  <a:pt x="88404" y="85725"/>
                </a:cubicBezTo>
                <a:lnTo>
                  <a:pt x="40184" y="85725"/>
                </a:lnTo>
                <a:close/>
                <a:moveTo>
                  <a:pt x="40184" y="117872"/>
                </a:moveTo>
                <a:cubicBezTo>
                  <a:pt x="35730" y="117872"/>
                  <a:pt x="32147" y="121455"/>
                  <a:pt x="32147" y="125909"/>
                </a:cubicBezTo>
                <a:cubicBezTo>
                  <a:pt x="32147" y="130362"/>
                  <a:pt x="35730" y="133945"/>
                  <a:pt x="40184" y="133945"/>
                </a:cubicBezTo>
                <a:lnTo>
                  <a:pt x="88404" y="133945"/>
                </a:lnTo>
                <a:cubicBezTo>
                  <a:pt x="92858" y="133945"/>
                  <a:pt x="96441" y="130362"/>
                  <a:pt x="96441" y="125909"/>
                </a:cubicBezTo>
                <a:cubicBezTo>
                  <a:pt x="96441" y="121455"/>
                  <a:pt x="92858" y="117872"/>
                  <a:pt x="88404" y="117872"/>
                </a:cubicBezTo>
                <a:lnTo>
                  <a:pt x="40184" y="11787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19913" y="5334000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Logging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91300" y="5676900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detailed logs to troubleshoot caching issues, misconfigured headers, or backend errors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&amp; Proof of Improvement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192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Measuring performance gains with industry-standard tools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912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6283" y="196977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50620" y="1931673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Lighthouse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 DevTools built-in auditing tool for Core Web Vitals, performance scores, and optimization suggestions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98170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07720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Chrome DevTools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5531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3984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319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11341" y="1931673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PageSpeed Insights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9841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Google's web performance analysis tool providing lab and field data for mobile and desktop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9841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458891" y="3448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225" y="68186"/>
                </a:moveTo>
                <a:cubicBezTo>
                  <a:pt x="130225" y="105039"/>
                  <a:pt x="104987" y="131266"/>
                  <a:pt x="67717" y="131266"/>
                </a:cubicBezTo>
                <a:cubicBezTo>
                  <a:pt x="31983" y="131266"/>
                  <a:pt x="3125" y="102409"/>
                  <a:pt x="3125" y="66675"/>
                </a:cubicBezTo>
                <a:cubicBezTo>
                  <a:pt x="3125" y="30941"/>
                  <a:pt x="31983" y="2084"/>
                  <a:pt x="67717" y="2084"/>
                </a:cubicBezTo>
                <a:cubicBezTo>
                  <a:pt x="85115" y="2084"/>
                  <a:pt x="99752" y="8465"/>
                  <a:pt x="111030" y="18987"/>
                </a:cubicBezTo>
                <a:lnTo>
                  <a:pt x="93449" y="35890"/>
                </a:lnTo>
                <a:cubicBezTo>
                  <a:pt x="70452" y="13700"/>
                  <a:pt x="27686" y="30368"/>
                  <a:pt x="27686" y="66675"/>
                </a:cubicBezTo>
                <a:cubicBezTo>
                  <a:pt x="27686" y="89204"/>
                  <a:pt x="45683" y="107461"/>
                  <a:pt x="67717" y="107461"/>
                </a:cubicBezTo>
                <a:cubicBezTo>
                  <a:pt x="93293" y="107461"/>
                  <a:pt x="102877" y="89126"/>
                  <a:pt x="104388" y="79619"/>
                </a:cubicBezTo>
                <a:lnTo>
                  <a:pt x="67717" y="79619"/>
                </a:lnTo>
                <a:lnTo>
                  <a:pt x="67717" y="57403"/>
                </a:lnTo>
                <a:lnTo>
                  <a:pt x="129209" y="57403"/>
                </a:lnTo>
                <a:cubicBezTo>
                  <a:pt x="129808" y="60711"/>
                  <a:pt x="130225" y="63888"/>
                  <a:pt x="130225" y="68186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8441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Tool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06371" y="1642110"/>
            <a:ext cx="3703320" cy="2169795"/>
          </a:xfrm>
          <a:custGeom>
            <a:avLst/>
            <a:gdLst/>
            <a:ahLst/>
            <a:cxnLst/>
            <a:rect l="l" t="t" r="r" b="b"/>
            <a:pathLst>
              <a:path w="3703320" h="2169795">
                <a:moveTo>
                  <a:pt x="152406" y="0"/>
                </a:moveTo>
                <a:lnTo>
                  <a:pt x="3550914" y="0"/>
                </a:lnTo>
                <a:cubicBezTo>
                  <a:pt x="3635085" y="0"/>
                  <a:pt x="3703320" y="68235"/>
                  <a:pt x="3703320" y="152406"/>
                </a:cubicBezTo>
                <a:lnTo>
                  <a:pt x="3703320" y="2017389"/>
                </a:lnTo>
                <a:cubicBezTo>
                  <a:pt x="3703320" y="2101560"/>
                  <a:pt x="3635085" y="2169795"/>
                  <a:pt x="3550914" y="2169795"/>
                </a:cubicBezTo>
                <a:lnTo>
                  <a:pt x="152406" y="2169795"/>
                </a:lnTo>
                <a:cubicBezTo>
                  <a:pt x="68235" y="2169795"/>
                  <a:pt x="0" y="2101560"/>
                  <a:pt x="0" y="2017389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30068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43403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0724" y="74302"/>
                </a:moveTo>
                <a:lnTo>
                  <a:pt x="32221" y="85799"/>
                </a:lnTo>
                <a:cubicBezTo>
                  <a:pt x="34454" y="88032"/>
                  <a:pt x="37467" y="89297"/>
                  <a:pt x="40630" y="89297"/>
                </a:cubicBezTo>
                <a:lnTo>
                  <a:pt x="48630" y="89297"/>
                </a:lnTo>
                <a:cubicBezTo>
                  <a:pt x="51792" y="89297"/>
                  <a:pt x="54806" y="90562"/>
                  <a:pt x="57038" y="92794"/>
                </a:cubicBezTo>
                <a:lnTo>
                  <a:pt x="67940" y="103696"/>
                </a:lnTo>
                <a:cubicBezTo>
                  <a:pt x="70172" y="105928"/>
                  <a:pt x="71438" y="108942"/>
                  <a:pt x="71438" y="112105"/>
                </a:cubicBezTo>
                <a:lnTo>
                  <a:pt x="71438" y="126057"/>
                </a:lnTo>
                <a:cubicBezTo>
                  <a:pt x="71438" y="129220"/>
                  <a:pt x="72703" y="132234"/>
                  <a:pt x="74935" y="134466"/>
                </a:cubicBezTo>
                <a:lnTo>
                  <a:pt x="79883" y="139415"/>
                </a:lnTo>
                <a:cubicBezTo>
                  <a:pt x="82116" y="141647"/>
                  <a:pt x="83381" y="144661"/>
                  <a:pt x="83381" y="147824"/>
                </a:cubicBezTo>
                <a:lnTo>
                  <a:pt x="83381" y="154781"/>
                </a:lnTo>
                <a:cubicBezTo>
                  <a:pt x="83381" y="161367"/>
                  <a:pt x="88702" y="166688"/>
                  <a:pt x="95287" y="166688"/>
                </a:cubicBezTo>
                <a:cubicBezTo>
                  <a:pt x="101873" y="166688"/>
                  <a:pt x="107193" y="161367"/>
                  <a:pt x="107193" y="154781"/>
                </a:cubicBezTo>
                <a:lnTo>
                  <a:pt x="107193" y="153777"/>
                </a:lnTo>
                <a:cubicBezTo>
                  <a:pt x="107193" y="150614"/>
                  <a:pt x="108458" y="147600"/>
                  <a:pt x="110691" y="145368"/>
                </a:cubicBezTo>
                <a:lnTo>
                  <a:pt x="127546" y="128513"/>
                </a:lnTo>
                <a:cubicBezTo>
                  <a:pt x="129778" y="126281"/>
                  <a:pt x="131043" y="123267"/>
                  <a:pt x="131043" y="120104"/>
                </a:cubicBezTo>
                <a:lnTo>
                  <a:pt x="131043" y="107193"/>
                </a:lnTo>
                <a:cubicBezTo>
                  <a:pt x="131043" y="100608"/>
                  <a:pt x="125723" y="95287"/>
                  <a:pt x="119137" y="95287"/>
                </a:cubicBezTo>
                <a:lnTo>
                  <a:pt x="88367" y="95287"/>
                </a:lnTo>
                <a:cubicBezTo>
                  <a:pt x="85204" y="95287"/>
                  <a:pt x="82190" y="94022"/>
                  <a:pt x="79958" y="91790"/>
                </a:cubicBezTo>
                <a:lnTo>
                  <a:pt x="74005" y="85837"/>
                </a:lnTo>
                <a:cubicBezTo>
                  <a:pt x="72442" y="84274"/>
                  <a:pt x="71549" y="82116"/>
                  <a:pt x="71549" y="79883"/>
                </a:cubicBezTo>
                <a:cubicBezTo>
                  <a:pt x="71549" y="75233"/>
                  <a:pt x="75307" y="71475"/>
                  <a:pt x="79958" y="71475"/>
                </a:cubicBezTo>
                <a:lnTo>
                  <a:pt x="92869" y="71475"/>
                </a:lnTo>
                <a:cubicBezTo>
                  <a:pt x="97520" y="71475"/>
                  <a:pt x="101278" y="67717"/>
                  <a:pt x="101278" y="63066"/>
                </a:cubicBezTo>
                <a:cubicBezTo>
                  <a:pt x="101278" y="60833"/>
                  <a:pt x="100385" y="58675"/>
                  <a:pt x="98822" y="57113"/>
                </a:cubicBezTo>
                <a:lnTo>
                  <a:pt x="91492" y="49783"/>
                </a:lnTo>
                <a:cubicBezTo>
                  <a:pt x="90041" y="48369"/>
                  <a:pt x="89297" y="46546"/>
                  <a:pt x="89297" y="44648"/>
                </a:cubicBezTo>
                <a:cubicBezTo>
                  <a:pt x="89297" y="42751"/>
                  <a:pt x="90041" y="40928"/>
                  <a:pt x="91418" y="39551"/>
                </a:cubicBezTo>
                <a:lnTo>
                  <a:pt x="97854" y="33114"/>
                </a:lnTo>
                <a:cubicBezTo>
                  <a:pt x="100013" y="30956"/>
                  <a:pt x="101240" y="28017"/>
                  <a:pt x="101240" y="24966"/>
                </a:cubicBezTo>
                <a:cubicBezTo>
                  <a:pt x="101240" y="22287"/>
                  <a:pt x="100347" y="19869"/>
                  <a:pt x="98859" y="17934"/>
                </a:cubicBezTo>
                <a:cubicBezTo>
                  <a:pt x="97668" y="17897"/>
                  <a:pt x="96478" y="17859"/>
                  <a:pt x="95287" y="17859"/>
                </a:cubicBezTo>
                <a:cubicBezTo>
                  <a:pt x="59792" y="17859"/>
                  <a:pt x="29914" y="41746"/>
                  <a:pt x="20762" y="74302"/>
                </a:cubicBezTo>
                <a:close/>
                <a:moveTo>
                  <a:pt x="172641" y="95250"/>
                </a:moveTo>
                <a:cubicBezTo>
                  <a:pt x="172641" y="82376"/>
                  <a:pt x="169515" y="70247"/>
                  <a:pt x="163934" y="59606"/>
                </a:cubicBezTo>
                <a:cubicBezTo>
                  <a:pt x="161553" y="59941"/>
                  <a:pt x="159209" y="61057"/>
                  <a:pt x="157274" y="62992"/>
                </a:cubicBezTo>
                <a:lnTo>
                  <a:pt x="152288" y="67977"/>
                </a:lnTo>
                <a:cubicBezTo>
                  <a:pt x="150056" y="70210"/>
                  <a:pt x="148791" y="73223"/>
                  <a:pt x="148791" y="76386"/>
                </a:cubicBezTo>
                <a:lnTo>
                  <a:pt x="148791" y="89297"/>
                </a:lnTo>
                <a:cubicBezTo>
                  <a:pt x="148791" y="95883"/>
                  <a:pt x="154112" y="101203"/>
                  <a:pt x="160697" y="101203"/>
                </a:cubicBezTo>
                <a:lnTo>
                  <a:pt x="169664" y="101203"/>
                </a:lnTo>
                <a:cubicBezTo>
                  <a:pt x="170594" y="101203"/>
                  <a:pt x="171524" y="101092"/>
                  <a:pt x="172380" y="100905"/>
                </a:cubicBezTo>
                <a:cubicBezTo>
                  <a:pt x="172529" y="99045"/>
                  <a:pt x="172566" y="97148"/>
                  <a:pt x="172566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872181" y="1931673"/>
            <a:ext cx="1162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WebPageTest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00681" y="2446023"/>
            <a:ext cx="3390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Multi-region testing from various global locations to measure real-world performance differences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0681" y="3307083"/>
            <a:ext cx="3314700" cy="7620"/>
          </a:xfrm>
          <a:custGeom>
            <a:avLst/>
            <a:gdLst/>
            <a:ahLst/>
            <a:cxnLst/>
            <a:rect l="l" t="t" r="r" b="b"/>
            <a:pathLst>
              <a:path w="3314700" h="7620">
                <a:moveTo>
                  <a:pt x="0" y="0"/>
                </a:moveTo>
                <a:lnTo>
                  <a:pt x="3314700" y="0"/>
                </a:lnTo>
                <a:lnTo>
                  <a:pt x="33147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86868B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336399" y="3448050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0" y="49121"/>
                </a:moveTo>
                <a:cubicBezTo>
                  <a:pt x="0" y="21982"/>
                  <a:pt x="22399" y="0"/>
                  <a:pt x="50006" y="0"/>
                </a:cubicBezTo>
                <a:cubicBezTo>
                  <a:pt x="77614" y="0"/>
                  <a:pt x="100013" y="21982"/>
                  <a:pt x="100013" y="49121"/>
                </a:cubicBezTo>
                <a:cubicBezTo>
                  <a:pt x="100013" y="80192"/>
                  <a:pt x="68707" y="117437"/>
                  <a:pt x="55632" y="131631"/>
                </a:cubicBezTo>
                <a:cubicBezTo>
                  <a:pt x="52559" y="134965"/>
                  <a:pt x="47428" y="134965"/>
                  <a:pt x="44355" y="131631"/>
                </a:cubicBezTo>
                <a:cubicBezTo>
                  <a:pt x="31280" y="117437"/>
                  <a:pt x="-26" y="80192"/>
                  <a:pt x="-26" y="49121"/>
                </a:cubicBezTo>
                <a:close/>
                <a:moveTo>
                  <a:pt x="50006" y="66675"/>
                </a:moveTo>
                <a:cubicBezTo>
                  <a:pt x="59206" y="66675"/>
                  <a:pt x="66675" y="59206"/>
                  <a:pt x="66675" y="50006"/>
                </a:cubicBezTo>
                <a:cubicBezTo>
                  <a:pt x="66675" y="40807"/>
                  <a:pt x="59206" y="33337"/>
                  <a:pt x="50006" y="33337"/>
                </a:cubicBezTo>
                <a:cubicBezTo>
                  <a:pt x="40807" y="33337"/>
                  <a:pt x="33337" y="40807"/>
                  <a:pt x="33337" y="50006"/>
                </a:cubicBezTo>
                <a:cubicBezTo>
                  <a:pt x="33337" y="59206"/>
                  <a:pt x="40807" y="66675"/>
                  <a:pt x="50006" y="66675"/>
                </a:cubicBezTo>
                <a:close/>
              </a:path>
            </a:pathLst>
          </a:custGeom>
          <a:solidFill>
            <a:srgbClr val="8686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529281" y="3425191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Multi-Region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810" y="3970019"/>
            <a:ext cx="11418570" cy="1988820"/>
          </a:xfrm>
          <a:custGeom>
            <a:avLst/>
            <a:gdLst/>
            <a:ahLst/>
            <a:cxnLst/>
            <a:rect l="l" t="t" r="r" b="b"/>
            <a:pathLst>
              <a:path w="11418570" h="1988820">
                <a:moveTo>
                  <a:pt x="152403" y="0"/>
                </a:moveTo>
                <a:lnTo>
                  <a:pt x="11266167" y="0"/>
                </a:lnTo>
                <a:cubicBezTo>
                  <a:pt x="11350337" y="0"/>
                  <a:pt x="11418570" y="68233"/>
                  <a:pt x="11418570" y="152403"/>
                </a:cubicBezTo>
                <a:lnTo>
                  <a:pt x="11418570" y="1836417"/>
                </a:lnTo>
                <a:cubicBezTo>
                  <a:pt x="11418570" y="1920587"/>
                  <a:pt x="11350337" y="1988820"/>
                  <a:pt x="11266167" y="1988820"/>
                </a:cubicBezTo>
                <a:lnTo>
                  <a:pt x="152403" y="1988820"/>
                </a:lnTo>
                <a:cubicBezTo>
                  <a:pt x="68233" y="1988820"/>
                  <a:pt x="0" y="1920587"/>
                  <a:pt x="0" y="183641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5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 w="10160">
            <a:solidFill>
              <a:srgbClr val="0071E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2932" y="420243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17245" y="4164332"/>
            <a:ext cx="10887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to Compare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9120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431012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71E3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527453" y="484060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6441" y="10716"/>
                </a:moveTo>
                <a:cubicBezTo>
                  <a:pt x="69384" y="10716"/>
                  <a:pt x="47718" y="23039"/>
                  <a:pt x="31946" y="37706"/>
                </a:cubicBezTo>
                <a:cubicBezTo>
                  <a:pt x="16274" y="52272"/>
                  <a:pt x="5793" y="69652"/>
                  <a:pt x="804" y="81606"/>
                </a:cubicBezTo>
                <a:cubicBezTo>
                  <a:pt x="-301" y="84252"/>
                  <a:pt x="-301" y="87198"/>
                  <a:pt x="804" y="89844"/>
                </a:cubicBezTo>
                <a:cubicBezTo>
                  <a:pt x="5793" y="101798"/>
                  <a:pt x="16274" y="119211"/>
                  <a:pt x="31946" y="133744"/>
                </a:cubicBezTo>
                <a:cubicBezTo>
                  <a:pt x="47718" y="148378"/>
                  <a:pt x="69384" y="160734"/>
                  <a:pt x="96441" y="160734"/>
                </a:cubicBezTo>
                <a:cubicBezTo>
                  <a:pt x="123498" y="160734"/>
                  <a:pt x="145163" y="148411"/>
                  <a:pt x="160935" y="133744"/>
                </a:cubicBezTo>
                <a:cubicBezTo>
                  <a:pt x="176607" y="119178"/>
                  <a:pt x="187088" y="101798"/>
                  <a:pt x="192078" y="89844"/>
                </a:cubicBezTo>
                <a:cubicBezTo>
                  <a:pt x="193183" y="87198"/>
                  <a:pt x="193183" y="84252"/>
                  <a:pt x="192078" y="81606"/>
                </a:cubicBezTo>
                <a:cubicBezTo>
                  <a:pt x="187088" y="69652"/>
                  <a:pt x="176607" y="52239"/>
                  <a:pt x="160935" y="37706"/>
                </a:cubicBezTo>
                <a:cubicBezTo>
                  <a:pt x="145163" y="23072"/>
                  <a:pt x="123498" y="10716"/>
                  <a:pt x="96441" y="10716"/>
                </a:cubicBezTo>
                <a:close/>
                <a:moveTo>
                  <a:pt x="48220" y="85725"/>
                </a:moveTo>
                <a:cubicBezTo>
                  <a:pt x="48220" y="59111"/>
                  <a:pt x="69827" y="37505"/>
                  <a:pt x="96441" y="37505"/>
                </a:cubicBezTo>
                <a:cubicBezTo>
                  <a:pt x="123054" y="37505"/>
                  <a:pt x="144661" y="59111"/>
                  <a:pt x="144661" y="85725"/>
                </a:cubicBezTo>
                <a:cubicBezTo>
                  <a:pt x="144661" y="112339"/>
                  <a:pt x="123054" y="133945"/>
                  <a:pt x="96441" y="133945"/>
                </a:cubicBezTo>
                <a:cubicBezTo>
                  <a:pt x="69827" y="133945"/>
                  <a:pt x="48220" y="112339"/>
                  <a:pt x="48220" y="85725"/>
                </a:cubicBezTo>
                <a:close/>
                <a:moveTo>
                  <a:pt x="96441" y="64294"/>
                </a:moveTo>
                <a:cubicBezTo>
                  <a:pt x="96441" y="76114"/>
                  <a:pt x="86830" y="85725"/>
                  <a:pt x="75009" y="85725"/>
                </a:cubicBezTo>
                <a:cubicBezTo>
                  <a:pt x="71158" y="85725"/>
                  <a:pt x="67542" y="84720"/>
                  <a:pt x="64394" y="82912"/>
                </a:cubicBezTo>
                <a:cubicBezTo>
                  <a:pt x="64059" y="86562"/>
                  <a:pt x="64361" y="90313"/>
                  <a:pt x="65365" y="94030"/>
                </a:cubicBezTo>
                <a:cubicBezTo>
                  <a:pt x="69953" y="111175"/>
                  <a:pt x="87600" y="121354"/>
                  <a:pt x="104745" y="116767"/>
                </a:cubicBezTo>
                <a:cubicBezTo>
                  <a:pt x="121890" y="112179"/>
                  <a:pt x="132070" y="94532"/>
                  <a:pt x="127482" y="77387"/>
                </a:cubicBezTo>
                <a:cubicBezTo>
                  <a:pt x="123397" y="62084"/>
                  <a:pt x="108898" y="52339"/>
                  <a:pt x="93628" y="53679"/>
                </a:cubicBezTo>
                <a:cubicBezTo>
                  <a:pt x="95403" y="56793"/>
                  <a:pt x="96441" y="60409"/>
                  <a:pt x="96441" y="64294"/>
                </a:cubicBezTo>
                <a:close/>
              </a:path>
            </a:pathLst>
          </a:custGeom>
          <a:solidFill>
            <a:srgbClr val="0071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93420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FCP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8183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Contentful Paint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816305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668197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4C75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786069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13395"/>
                </a:moveTo>
                <a:cubicBezTo>
                  <a:pt x="42863" y="5994"/>
                  <a:pt x="48857" y="0"/>
                  <a:pt x="56257" y="0"/>
                </a:cubicBezTo>
                <a:cubicBezTo>
                  <a:pt x="63658" y="0"/>
                  <a:pt x="69652" y="5994"/>
                  <a:pt x="69652" y="13395"/>
                </a:cubicBezTo>
                <a:lnTo>
                  <a:pt x="69652" y="63021"/>
                </a:lnTo>
                <a:cubicBezTo>
                  <a:pt x="72498" y="60476"/>
                  <a:pt x="76248" y="58936"/>
                  <a:pt x="80367" y="58936"/>
                </a:cubicBezTo>
                <a:cubicBezTo>
                  <a:pt x="87265" y="58936"/>
                  <a:pt x="93159" y="63289"/>
                  <a:pt x="95436" y="69384"/>
                </a:cubicBezTo>
                <a:cubicBezTo>
                  <a:pt x="98383" y="66269"/>
                  <a:pt x="102535" y="64294"/>
                  <a:pt x="107156" y="64294"/>
                </a:cubicBezTo>
                <a:cubicBezTo>
                  <a:pt x="115628" y="64294"/>
                  <a:pt x="122560" y="70824"/>
                  <a:pt x="123196" y="79128"/>
                </a:cubicBezTo>
                <a:cubicBezTo>
                  <a:pt x="126043" y="76550"/>
                  <a:pt x="129826" y="75009"/>
                  <a:pt x="133945" y="75009"/>
                </a:cubicBezTo>
                <a:cubicBezTo>
                  <a:pt x="142819" y="75009"/>
                  <a:pt x="150019" y="82209"/>
                  <a:pt x="150019" y="91083"/>
                </a:cubicBezTo>
                <a:lnTo>
                  <a:pt x="150019" y="128588"/>
                </a:lnTo>
                <a:cubicBezTo>
                  <a:pt x="150019" y="152262"/>
                  <a:pt x="130831" y="171450"/>
                  <a:pt x="107156" y="171450"/>
                </a:cubicBezTo>
                <a:lnTo>
                  <a:pt x="78592" y="171450"/>
                </a:lnTo>
                <a:cubicBezTo>
                  <a:pt x="76918" y="171450"/>
                  <a:pt x="75277" y="171350"/>
                  <a:pt x="73670" y="171115"/>
                </a:cubicBezTo>
                <a:cubicBezTo>
                  <a:pt x="55152" y="169240"/>
                  <a:pt x="38107" y="159730"/>
                  <a:pt x="26789" y="144661"/>
                </a:cubicBezTo>
                <a:lnTo>
                  <a:pt x="2679" y="112514"/>
                </a:lnTo>
                <a:cubicBezTo>
                  <a:pt x="-1775" y="106587"/>
                  <a:pt x="-569" y="98215"/>
                  <a:pt x="5358" y="93762"/>
                </a:cubicBezTo>
                <a:cubicBezTo>
                  <a:pt x="11285" y="89308"/>
                  <a:pt x="19656" y="90514"/>
                  <a:pt x="24110" y="96441"/>
                </a:cubicBezTo>
                <a:lnTo>
                  <a:pt x="42863" y="121455"/>
                </a:lnTo>
                <a:lnTo>
                  <a:pt x="42863" y="13395"/>
                </a:lnTo>
                <a:close/>
                <a:moveTo>
                  <a:pt x="80367" y="101798"/>
                </a:moveTo>
                <a:cubicBezTo>
                  <a:pt x="80367" y="98852"/>
                  <a:pt x="77956" y="96441"/>
                  <a:pt x="75009" y="96441"/>
                </a:cubicBezTo>
                <a:cubicBezTo>
                  <a:pt x="72063" y="96441"/>
                  <a:pt x="69652" y="98852"/>
                  <a:pt x="69652" y="101798"/>
                </a:cubicBezTo>
                <a:lnTo>
                  <a:pt x="69652" y="133945"/>
                </a:lnTo>
                <a:cubicBezTo>
                  <a:pt x="69652" y="136892"/>
                  <a:pt x="72063" y="139303"/>
                  <a:pt x="75009" y="139303"/>
                </a:cubicBezTo>
                <a:cubicBezTo>
                  <a:pt x="77956" y="139303"/>
                  <a:pt x="80367" y="136892"/>
                  <a:pt x="80367" y="133945"/>
                </a:cubicBezTo>
                <a:lnTo>
                  <a:pt x="80367" y="101798"/>
                </a:lnTo>
                <a:close/>
                <a:moveTo>
                  <a:pt x="96441" y="96441"/>
                </a:moveTo>
                <a:cubicBezTo>
                  <a:pt x="93494" y="96441"/>
                  <a:pt x="91083" y="98852"/>
                  <a:pt x="91083" y="101798"/>
                </a:cubicBezTo>
                <a:lnTo>
                  <a:pt x="91083" y="133945"/>
                </a:lnTo>
                <a:cubicBezTo>
                  <a:pt x="91083" y="136892"/>
                  <a:pt x="93494" y="139303"/>
                  <a:pt x="96441" y="139303"/>
                </a:cubicBezTo>
                <a:cubicBezTo>
                  <a:pt x="99387" y="139303"/>
                  <a:pt x="101798" y="136892"/>
                  <a:pt x="101798" y="133945"/>
                </a:cubicBezTo>
                <a:lnTo>
                  <a:pt x="101798" y="101798"/>
                </a:lnTo>
                <a:cubicBezTo>
                  <a:pt x="101798" y="98852"/>
                  <a:pt x="99387" y="96441"/>
                  <a:pt x="96441" y="96441"/>
                </a:cubicBezTo>
                <a:close/>
                <a:moveTo>
                  <a:pt x="123230" y="101798"/>
                </a:moveTo>
                <a:cubicBezTo>
                  <a:pt x="123230" y="98852"/>
                  <a:pt x="120819" y="96441"/>
                  <a:pt x="117872" y="96441"/>
                </a:cubicBezTo>
                <a:cubicBezTo>
                  <a:pt x="114925" y="96441"/>
                  <a:pt x="112514" y="98852"/>
                  <a:pt x="112514" y="101798"/>
                </a:cubicBezTo>
                <a:lnTo>
                  <a:pt x="112514" y="133945"/>
                </a:lnTo>
                <a:cubicBezTo>
                  <a:pt x="112514" y="136892"/>
                  <a:pt x="114925" y="139303"/>
                  <a:pt x="117872" y="139303"/>
                </a:cubicBezTo>
                <a:cubicBezTo>
                  <a:pt x="120819" y="139303"/>
                  <a:pt x="123230" y="136892"/>
                  <a:pt x="123230" y="133945"/>
                </a:cubicBezTo>
                <a:lnTo>
                  <a:pt x="123230" y="101798"/>
                </a:ln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930605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TTI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2935367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to Interactive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53489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905381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023253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167789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LCP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172551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Largest Contentful Paint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290792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8142684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8249841" y="4840607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405092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Time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409855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Page Load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527977" y="4583432"/>
            <a:ext cx="2085975" cy="1181100"/>
          </a:xfrm>
          <a:custGeom>
            <a:avLst/>
            <a:gdLst/>
            <a:ahLst/>
            <a:cxnLst/>
            <a:rect l="l" t="t" r="r" b="b"/>
            <a:pathLst>
              <a:path w="2085975" h="1181100">
                <a:moveTo>
                  <a:pt x="114295" y="0"/>
                </a:moveTo>
                <a:lnTo>
                  <a:pt x="1971680" y="0"/>
                </a:lnTo>
                <a:cubicBezTo>
                  <a:pt x="2034803" y="0"/>
                  <a:pt x="2085975" y="51172"/>
                  <a:pt x="2085975" y="114295"/>
                </a:cubicBezTo>
                <a:lnTo>
                  <a:pt x="2085975" y="1066805"/>
                </a:lnTo>
                <a:cubicBezTo>
                  <a:pt x="2085975" y="1129928"/>
                  <a:pt x="2034803" y="1181100"/>
                  <a:pt x="1971680" y="1181100"/>
                </a:cubicBezTo>
                <a:lnTo>
                  <a:pt x="114295" y="1181100"/>
                </a:lnTo>
                <a:cubicBezTo>
                  <a:pt x="51172" y="1181100"/>
                  <a:pt x="0" y="1129928"/>
                  <a:pt x="0" y="10668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10379869" y="473583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BBA7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497741" y="484060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64294" y="42863"/>
                </a:moveTo>
                <a:cubicBezTo>
                  <a:pt x="64294" y="25120"/>
                  <a:pt x="49889" y="10716"/>
                  <a:pt x="32147" y="10716"/>
                </a:cubicBezTo>
                <a:cubicBezTo>
                  <a:pt x="14405" y="10716"/>
                  <a:pt x="0" y="25120"/>
                  <a:pt x="0" y="42863"/>
                </a:cubicBezTo>
                <a:cubicBezTo>
                  <a:pt x="0" y="60605"/>
                  <a:pt x="14405" y="75009"/>
                  <a:pt x="32147" y="75009"/>
                </a:cubicBezTo>
                <a:cubicBezTo>
                  <a:pt x="49889" y="75009"/>
                  <a:pt x="64294" y="60605"/>
                  <a:pt x="64294" y="42863"/>
                </a:cubicBezTo>
                <a:close/>
                <a:moveTo>
                  <a:pt x="150019" y="128588"/>
                </a:moveTo>
                <a:cubicBezTo>
                  <a:pt x="150019" y="110845"/>
                  <a:pt x="135614" y="96441"/>
                  <a:pt x="117872" y="96441"/>
                </a:cubicBezTo>
                <a:cubicBezTo>
                  <a:pt x="100130" y="96441"/>
                  <a:pt x="85725" y="110845"/>
                  <a:pt x="85725" y="128588"/>
                </a:cubicBezTo>
                <a:cubicBezTo>
                  <a:pt x="85725" y="146330"/>
                  <a:pt x="100130" y="160734"/>
                  <a:pt x="117872" y="160734"/>
                </a:cubicBezTo>
                <a:cubicBezTo>
                  <a:pt x="135614" y="160734"/>
                  <a:pt x="150019" y="146330"/>
                  <a:pt x="150019" y="128588"/>
                </a:cubicBezTo>
                <a:close/>
                <a:moveTo>
                  <a:pt x="146871" y="28999"/>
                </a:moveTo>
                <a:cubicBezTo>
                  <a:pt x="151057" y="24813"/>
                  <a:pt x="151057" y="18016"/>
                  <a:pt x="146871" y="13830"/>
                </a:cubicBezTo>
                <a:cubicBezTo>
                  <a:pt x="142685" y="9644"/>
                  <a:pt x="135888" y="9644"/>
                  <a:pt x="131702" y="13830"/>
                </a:cubicBezTo>
                <a:lnTo>
                  <a:pt x="3114" y="142417"/>
                </a:lnTo>
                <a:cubicBezTo>
                  <a:pt x="-1072" y="146603"/>
                  <a:pt x="-1072" y="153401"/>
                  <a:pt x="3114" y="157587"/>
                </a:cubicBezTo>
                <a:cubicBezTo>
                  <a:pt x="7300" y="161772"/>
                  <a:pt x="14098" y="161772"/>
                  <a:pt x="18284" y="157587"/>
                </a:cubicBezTo>
                <a:lnTo>
                  <a:pt x="146871" y="28999"/>
                </a:lnTo>
                <a:close/>
              </a:path>
            </a:pathLst>
          </a:custGeom>
          <a:solidFill>
            <a:srgbClr val="00968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9642277" y="5193032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 Hit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647039" y="5421632"/>
            <a:ext cx="1847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Hit/Miss Evidence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00050" y="611505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3810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438148"/>
                </a:lnTo>
                <a:cubicBezTo>
                  <a:pt x="11410950" y="501275"/>
                  <a:pt x="11359775" y="552450"/>
                  <a:pt x="11296648" y="552450"/>
                </a:cubicBez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>
                  <a:alpha val="10000"/>
                </a:srgbClr>
              </a:gs>
              <a:gs pos="100000">
                <a:srgbClr val="34C759">
                  <a:alpha val="5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00050" y="61150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3810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38100" y="552450"/>
                </a:lnTo>
                <a:cubicBezTo>
                  <a:pt x="17072" y="552450"/>
                  <a:pt x="0" y="535378"/>
                  <a:pt x="0" y="5143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00075" y="62769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34C75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971550" y="6267450"/>
            <a:ext cx="9010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Evidence of Success:</a:t>
            </a:r>
            <a:r>
              <a:rPr lang="en-US" sz="1200" dirty="0">
                <a:solidFill>
                  <a:srgbClr val="1D1D1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Look for improved repeat-view performance, higher cache hit ratios in GCP Monitoring, and reduced origin fetches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" y="114302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71E3">
                  <a:alpha val="20000"/>
                </a:srgbClr>
              </a:gs>
              <a:gs pos="50000">
                <a:srgbClr val="F5F5F7">
                  <a:alpha val="90000"/>
                </a:srgbClr>
              </a:gs>
              <a:gs pos="100000">
                <a:srgbClr val="34C759">
                  <a:alpha val="1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1000" y="935357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0071E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240157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964057"/>
            <a:ext cx="7410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global website performance through intelligent cloud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79120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51A2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9120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Performance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Improved load times worldwide via Cloud CDN edge caching, delivering consistent performance regardless of user location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8270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52580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34C759"/>
              </a:gs>
              <a:gs pos="100000">
                <a:srgbClr val="05DF72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19268" y="28098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452580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Origin Load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2580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Minimized origin fetches and server load through intelligent caching strategy, improving scalability and reducing costs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1731" y="2463167"/>
            <a:ext cx="3674745" cy="2160270"/>
          </a:xfrm>
          <a:custGeom>
            <a:avLst/>
            <a:gdLst/>
            <a:ahLst/>
            <a:cxnLst/>
            <a:rect l="l" t="t" r="r" b="b"/>
            <a:pathLst>
              <a:path w="3674745" h="2160270">
                <a:moveTo>
                  <a:pt x="152407" y="0"/>
                </a:moveTo>
                <a:lnTo>
                  <a:pt x="3522338" y="0"/>
                </a:lnTo>
                <a:cubicBezTo>
                  <a:pt x="3606510" y="0"/>
                  <a:pt x="3674745" y="68235"/>
                  <a:pt x="3674745" y="152407"/>
                </a:cubicBezTo>
                <a:lnTo>
                  <a:pt x="3674745" y="2007863"/>
                </a:lnTo>
                <a:cubicBezTo>
                  <a:pt x="3674745" y="2092035"/>
                  <a:pt x="3606510" y="2160270"/>
                  <a:pt x="3522338" y="2160270"/>
                </a:cubicBezTo>
                <a:lnTo>
                  <a:pt x="152407" y="2160270"/>
                </a:lnTo>
                <a:cubicBezTo>
                  <a:pt x="68235" y="2160270"/>
                  <a:pt x="0" y="2092035"/>
                  <a:pt x="0" y="2007863"/>
                </a:cubicBezTo>
                <a:lnTo>
                  <a:pt x="0" y="152407"/>
                </a:lnTo>
                <a:cubicBezTo>
                  <a:pt x="0" y="68291"/>
                  <a:pt x="68291" y="0"/>
                  <a:pt x="152407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 w="10160">
            <a:solidFill>
              <a:srgbClr val="86868B">
                <a:alpha val="10196"/>
              </a:srgbClr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326041" y="26574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C27AFF"/>
              </a:gs>
            </a:gsLst>
            <a:lin ang="2700000" scaled="1"/>
          </a:gradFill>
          <a:ln/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478441" y="2809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326041" y="334327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D1D1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 Measurement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6041" y="3686175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686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Established before/after measurement methodology using industry-standard tools and GCP monitoring metrics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" y="4855848"/>
            <a:ext cx="11430000" cy="1066800"/>
          </a:xfrm>
          <a:custGeom>
            <a:avLst/>
            <a:gdLst/>
            <a:ahLst/>
            <a:cxnLst/>
            <a:rect l="l" t="t" r="r" b="b"/>
            <a:pathLst>
              <a:path w="11430000" h="1066800">
                <a:moveTo>
                  <a:pt x="152403" y="0"/>
                </a:moveTo>
                <a:lnTo>
                  <a:pt x="11277597" y="0"/>
                </a:lnTo>
                <a:cubicBezTo>
                  <a:pt x="11361767" y="0"/>
                  <a:pt x="11430000" y="68233"/>
                  <a:pt x="11430000" y="152403"/>
                </a:cubicBezTo>
                <a:lnTo>
                  <a:pt x="11430000" y="914397"/>
                </a:lnTo>
                <a:cubicBezTo>
                  <a:pt x="11430000" y="998567"/>
                  <a:pt x="11361767" y="1066800"/>
                  <a:pt x="11277597" y="1066800"/>
                </a:cubicBezTo>
                <a:lnTo>
                  <a:pt x="152403" y="1066800"/>
                </a:lnTo>
                <a:cubicBezTo>
                  <a:pt x="68233" y="1066800"/>
                  <a:pt x="0" y="998567"/>
                  <a:pt x="0" y="9143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0071E3"/>
              </a:gs>
              <a:gs pos="100000">
                <a:srgbClr val="34C759"/>
              </a:gs>
            </a:gsLst>
            <a:lin ang="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09600" y="508444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56047" y="5246373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14313" y="80367"/>
                </a:moveTo>
                <a:cubicBezTo>
                  <a:pt x="214313" y="134615"/>
                  <a:pt x="166315" y="178594"/>
                  <a:pt x="107156" y="178594"/>
                </a:cubicBezTo>
                <a:cubicBezTo>
                  <a:pt x="92255" y="178594"/>
                  <a:pt x="78079" y="175803"/>
                  <a:pt x="65187" y="170780"/>
                </a:cubicBezTo>
                <a:lnTo>
                  <a:pt x="19645" y="194890"/>
                </a:lnTo>
                <a:cubicBezTo>
                  <a:pt x="14455" y="197625"/>
                  <a:pt x="8093" y="196676"/>
                  <a:pt x="3907" y="192546"/>
                </a:cubicBezTo>
                <a:cubicBezTo>
                  <a:pt x="-279" y="188416"/>
                  <a:pt x="-1228" y="181998"/>
                  <a:pt x="1563" y="176808"/>
                </a:cubicBezTo>
                <a:lnTo>
                  <a:pt x="21431" y="139303"/>
                </a:lnTo>
                <a:cubicBezTo>
                  <a:pt x="7981" y="122895"/>
                  <a:pt x="0" y="102468"/>
                  <a:pt x="0" y="80367"/>
                </a:cubicBezTo>
                <a:cubicBezTo>
                  <a:pt x="0" y="26119"/>
                  <a:pt x="47997" y="-17859"/>
                  <a:pt x="107156" y="-17859"/>
                </a:cubicBezTo>
                <a:cubicBezTo>
                  <a:pt x="166315" y="-17859"/>
                  <a:pt x="214313" y="26119"/>
                  <a:pt x="214313" y="80367"/>
                </a:cubicBezTo>
                <a:close/>
                <a:moveTo>
                  <a:pt x="214313" y="285750"/>
                </a:moveTo>
                <a:cubicBezTo>
                  <a:pt x="161795" y="285750"/>
                  <a:pt x="118095" y="251092"/>
                  <a:pt x="108942" y="205383"/>
                </a:cubicBezTo>
                <a:cubicBezTo>
                  <a:pt x="175915" y="204546"/>
                  <a:pt x="234125" y="156883"/>
                  <a:pt x="240543" y="92255"/>
                </a:cubicBezTo>
                <a:cubicBezTo>
                  <a:pt x="287034" y="102970"/>
                  <a:pt x="321469" y="141536"/>
                  <a:pt x="321469" y="187523"/>
                </a:cubicBezTo>
                <a:cubicBezTo>
                  <a:pt x="321469" y="209624"/>
                  <a:pt x="313488" y="230051"/>
                  <a:pt x="300038" y="246459"/>
                </a:cubicBezTo>
                <a:lnTo>
                  <a:pt x="319906" y="283964"/>
                </a:lnTo>
                <a:cubicBezTo>
                  <a:pt x="322641" y="289154"/>
                  <a:pt x="321692" y="295517"/>
                  <a:pt x="317562" y="299703"/>
                </a:cubicBezTo>
                <a:cubicBezTo>
                  <a:pt x="313432" y="303888"/>
                  <a:pt x="307014" y="304837"/>
                  <a:pt x="301823" y="302047"/>
                </a:cubicBezTo>
                <a:lnTo>
                  <a:pt x="256282" y="277937"/>
                </a:lnTo>
                <a:cubicBezTo>
                  <a:pt x="243390" y="282959"/>
                  <a:pt x="229214" y="285750"/>
                  <a:pt x="214313" y="28575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371600" y="5103498"/>
            <a:ext cx="407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446277"/>
            <a:ext cx="403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• Caching Strategy • Performance Measurement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42753" y="5122548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33228" y="5389248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discuss!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1016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Quattrocento Sans</vt:lpstr>
      <vt:lpstr>Arial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Website Optimization with GCP Cloud CDN</dc:title>
  <dc:subject>Static Website Optimization with GCP Cloud CDN</dc:subject>
  <dc:creator>Kimi</dc:creator>
  <cp:lastModifiedBy>krishna chaitanya</cp:lastModifiedBy>
  <cp:revision>2</cp:revision>
  <dcterms:created xsi:type="dcterms:W3CDTF">2026-02-14T05:17:58Z</dcterms:created>
  <dcterms:modified xsi:type="dcterms:W3CDTF">2026-02-22T06:18:13Z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{"Label":"Static Website Optimization with GCP Cloud CDN","ContentProducer":"001191110108MACG2KBH8F10000","ProduceID":"19c5a90a-e6a2-8cd6-8000-00008da7d7aa","ReservedCode1":"","ContentPropagator":"001191110108MACG2KBH8F20000","PropagateID":"19c5a90a-e6a2-8cd6-8000-00008da7d7aa","ReservedCode2":""}</vt:lpwstr>
  </property>
</Properties>
</file>